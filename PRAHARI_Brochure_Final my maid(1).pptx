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958"/>
    <p:restoredTop sz="94610"/>
  </p:normalViewPr>
  <p:slideViewPr>
    <p:cSldViewPr snapToGrid="0" snapToObjects="1">
      <p:cViewPr>
        <p:scale>
          <a:sx n="114" d="100"/>
          <a:sy n="114" d="100"/>
        </p:scale>
        <p:origin x="-2056"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194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1.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9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7090D"/>
          </a:solidFill>
          <a:ln w="12700">
            <a:solidFill>
              <a:srgbClr val="07090D"/>
            </a:solidFill>
            <a:prstDash val="solid"/>
          </a:ln>
        </p:spPr>
        <p:txBody>
          <a:bodyPr/>
          <a:lstStyle/>
          <a:p>
            <a:endParaRPr lang="en-US"/>
          </a:p>
        </p:txBody>
      </p:sp>
      <p:sp>
        <p:nvSpPr>
          <p:cNvPr id="3" name="Shape 1"/>
          <p:cNvSpPr/>
          <p:nvPr/>
        </p:nvSpPr>
        <p:spPr>
          <a:xfrm>
            <a:off x="6263640" y="0"/>
            <a:ext cx="5897880" cy="6858000"/>
          </a:xfrm>
          <a:prstGeom prst="rect">
            <a:avLst/>
          </a:prstGeom>
          <a:solidFill>
            <a:srgbClr val="FAFAFA"/>
          </a:solidFill>
          <a:ln w="12700">
            <a:solidFill>
              <a:srgbClr val="FAFAFA"/>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077590" y="228600"/>
            <a:ext cx="4269980" cy="6400800"/>
          </a:xfrm>
          <a:prstGeom prst="rect">
            <a:avLst/>
          </a:prstGeom>
        </p:spPr>
      </p:pic>
      <p:sp>
        <p:nvSpPr>
          <p:cNvPr id="5" name="Shape 2"/>
          <p:cNvSpPr/>
          <p:nvPr/>
        </p:nvSpPr>
        <p:spPr>
          <a:xfrm>
            <a:off x="6245352" y="0"/>
            <a:ext cx="36576" cy="6858000"/>
          </a:xfrm>
          <a:prstGeom prst="rect">
            <a:avLst/>
          </a:prstGeom>
          <a:solidFill>
            <a:srgbClr val="1A6CF0"/>
          </a:solidFill>
          <a:ln w="12700">
            <a:solidFill>
              <a:srgbClr val="1A6CF0"/>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594360" y="1417320"/>
            <a:ext cx="868680" cy="868680"/>
          </a:xfrm>
          <a:prstGeom prst="rect">
            <a:avLst/>
          </a:prstGeom>
        </p:spPr>
      </p:pic>
      <p:sp>
        <p:nvSpPr>
          <p:cNvPr id="7" name="Text 3"/>
          <p:cNvSpPr/>
          <p:nvPr/>
        </p:nvSpPr>
        <p:spPr>
          <a:xfrm>
            <a:off x="566928" y="2468880"/>
            <a:ext cx="5486400" cy="1188720"/>
          </a:xfrm>
          <a:prstGeom prst="rect">
            <a:avLst/>
          </a:prstGeom>
          <a:noFill/>
          <a:ln/>
        </p:spPr>
        <p:txBody>
          <a:bodyPr wrap="square" lIns="0" tIns="0" rIns="0" bIns="0" rtlCol="0" anchor="ctr"/>
          <a:lstStyle/>
          <a:p>
            <a:pPr marL="0" indent="0">
              <a:buNone/>
            </a:pPr>
            <a:r>
              <a:rPr lang="en-US" sz="6600" b="1" kern="0" spc="300" dirty="0">
                <a:solidFill>
                  <a:srgbClr val="EDF3FA"/>
                </a:solidFill>
                <a:latin typeface="Cambria" pitchFamily="34" charset="0"/>
                <a:ea typeface="Cambria" pitchFamily="34" charset="-122"/>
                <a:cs typeface="Cambria" pitchFamily="34" charset="-120"/>
              </a:rPr>
              <a:t>PRAHARI</a:t>
            </a:r>
            <a:endParaRPr lang="en-US" sz="6600" dirty="0"/>
          </a:p>
        </p:txBody>
      </p:sp>
      <p:sp>
        <p:nvSpPr>
          <p:cNvPr id="8" name="Shape 4"/>
          <p:cNvSpPr/>
          <p:nvPr/>
        </p:nvSpPr>
        <p:spPr>
          <a:xfrm>
            <a:off x="594360" y="3611880"/>
            <a:ext cx="2377440" cy="25603"/>
          </a:xfrm>
          <a:prstGeom prst="rect">
            <a:avLst/>
          </a:prstGeom>
          <a:solidFill>
            <a:srgbClr val="1A6CF0"/>
          </a:solidFill>
          <a:ln w="12700">
            <a:solidFill>
              <a:srgbClr val="1A6CF0"/>
            </a:solidFill>
            <a:prstDash val="solid"/>
          </a:ln>
        </p:spPr>
        <p:txBody>
          <a:bodyPr/>
          <a:lstStyle/>
          <a:p>
            <a:endParaRPr lang="en-US"/>
          </a:p>
        </p:txBody>
      </p:sp>
      <p:sp>
        <p:nvSpPr>
          <p:cNvPr id="9" name="Text 5"/>
          <p:cNvSpPr/>
          <p:nvPr/>
        </p:nvSpPr>
        <p:spPr>
          <a:xfrm>
            <a:off x="594360" y="3767328"/>
            <a:ext cx="5394960" cy="411480"/>
          </a:xfrm>
          <a:prstGeom prst="rect">
            <a:avLst/>
          </a:prstGeom>
          <a:noFill/>
          <a:ln/>
        </p:spPr>
        <p:txBody>
          <a:bodyPr wrap="square" lIns="0" tIns="0" rIns="0" bIns="0" rtlCol="0" anchor="ctr"/>
          <a:lstStyle/>
          <a:p>
            <a:pPr marL="0" indent="0">
              <a:buNone/>
            </a:pPr>
            <a:r>
              <a:rPr lang="en-US" sz="1800" dirty="0">
                <a:solidFill>
                  <a:srgbClr val="C2CDD9"/>
                </a:solidFill>
                <a:latin typeface="Cambria" pitchFamily="34" charset="0"/>
                <a:ea typeface="Cambria" pitchFamily="34" charset="-122"/>
                <a:cs typeface="Cambria" pitchFamily="34" charset="-120"/>
              </a:rPr>
              <a:t>Smart Public Infrastructure</a:t>
            </a:r>
            <a:endParaRPr lang="en-US" sz="1800" dirty="0"/>
          </a:p>
        </p:txBody>
      </p:sp>
      <p:sp>
        <p:nvSpPr>
          <p:cNvPr id="10" name="Text 6"/>
          <p:cNvSpPr/>
          <p:nvPr/>
        </p:nvSpPr>
        <p:spPr>
          <a:xfrm>
            <a:off x="594360" y="4169664"/>
            <a:ext cx="5394960" cy="411480"/>
          </a:xfrm>
          <a:prstGeom prst="rect">
            <a:avLst/>
          </a:prstGeom>
          <a:noFill/>
          <a:ln/>
        </p:spPr>
        <p:txBody>
          <a:bodyPr wrap="square" lIns="0" tIns="0" rIns="0" bIns="0" rtlCol="0" anchor="ctr"/>
          <a:lstStyle/>
          <a:p>
            <a:pPr marL="0" indent="0">
              <a:buNone/>
            </a:pPr>
            <a:r>
              <a:rPr lang="en-US" sz="1800" i="1" dirty="0">
                <a:solidFill>
                  <a:srgbClr val="4D8EF8"/>
                </a:solidFill>
                <a:latin typeface="Cambria" pitchFamily="34" charset="0"/>
                <a:ea typeface="Cambria" pitchFamily="34" charset="-122"/>
                <a:cs typeface="Cambria" pitchFamily="34" charset="-120"/>
              </a:rPr>
              <a:t>for Urban India</a:t>
            </a:r>
            <a:endParaRPr lang="en-US" sz="1800" dirty="0"/>
          </a:p>
        </p:txBody>
      </p:sp>
      <p:sp>
        <p:nvSpPr>
          <p:cNvPr id="11" name="Text 7"/>
          <p:cNvSpPr/>
          <p:nvPr/>
        </p:nvSpPr>
        <p:spPr>
          <a:xfrm>
            <a:off x="594360" y="6355080"/>
            <a:ext cx="4572000" cy="274320"/>
          </a:xfrm>
          <a:prstGeom prst="rect">
            <a:avLst/>
          </a:prstGeom>
          <a:noFill/>
          <a:ln/>
        </p:spPr>
        <p:txBody>
          <a:bodyPr wrap="square" lIns="0" tIns="0" rIns="0" bIns="0" rtlCol="0" anchor="ctr"/>
          <a:lstStyle/>
          <a:p>
            <a:pPr marL="0" indent="0">
              <a:buNone/>
            </a:pPr>
            <a:r>
              <a:rPr lang="en-US" sz="950" dirty="0">
                <a:solidFill>
                  <a:srgbClr val="56687A"/>
                </a:solidFill>
                <a:latin typeface="Calibri" pitchFamily="34" charset="0"/>
                <a:ea typeface="Calibri" pitchFamily="34" charset="-122"/>
                <a:cs typeface="Calibri" pitchFamily="34" charset="-120"/>
              </a:rPr>
              <a:t>prahari-official.vercel.app</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9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594360"/>
          </a:xfrm>
          <a:prstGeom prst="rect">
            <a:avLst/>
          </a:prstGeom>
          <a:solidFill>
            <a:srgbClr val="07090D"/>
          </a:solidFill>
          <a:ln w="12700">
            <a:solidFill>
              <a:srgbClr val="07090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466344" cy="466344"/>
          </a:xfrm>
          <a:prstGeom prst="rect">
            <a:avLst/>
          </a:prstGeom>
        </p:spPr>
      </p:pic>
      <p:sp>
        <p:nvSpPr>
          <p:cNvPr id="4" name="Text 1"/>
          <p:cNvSpPr/>
          <p:nvPr/>
        </p:nvSpPr>
        <p:spPr>
          <a:xfrm>
            <a:off x="804672" y="192024"/>
            <a:ext cx="3657600" cy="219456"/>
          </a:xfrm>
          <a:prstGeom prst="rect">
            <a:avLst/>
          </a:prstGeom>
          <a:noFill/>
          <a:ln/>
        </p:spPr>
        <p:txBody>
          <a:bodyPr wrap="square" lIns="0" tIns="0" rIns="0" bIns="0" rtlCol="0" anchor="ctr"/>
          <a:lstStyle/>
          <a:p>
            <a:pPr marL="0" indent="0">
              <a:buNone/>
            </a:pPr>
            <a:r>
              <a:rPr lang="en-US" sz="780" b="1" kern="0" spc="300" dirty="0">
                <a:solidFill>
                  <a:srgbClr val="8090A2"/>
                </a:solidFill>
                <a:latin typeface="Calibri" pitchFamily="34" charset="0"/>
                <a:ea typeface="Calibri" pitchFamily="34" charset="-122"/>
                <a:cs typeface="Calibri" pitchFamily="34" charset="-120"/>
              </a:rPr>
              <a:t>PRAHARI GRID SYSTEMS</a:t>
            </a:r>
            <a:endParaRPr lang="en-US" sz="780" dirty="0"/>
          </a:p>
        </p:txBody>
      </p:sp>
      <p:sp>
        <p:nvSpPr>
          <p:cNvPr id="5" name="Shape 2"/>
          <p:cNvSpPr/>
          <p:nvPr/>
        </p:nvSpPr>
        <p:spPr>
          <a:xfrm>
            <a:off x="0" y="589788"/>
            <a:ext cx="12161520" cy="18288"/>
          </a:xfrm>
          <a:prstGeom prst="rect">
            <a:avLst/>
          </a:prstGeom>
          <a:solidFill>
            <a:srgbClr val="1A6CF0"/>
          </a:solidFill>
          <a:ln w="12700">
            <a:solidFill>
              <a:srgbClr val="1A6CF0"/>
            </a:solidFill>
            <a:prstDash val="solid"/>
          </a:ln>
        </p:spPr>
        <p:txBody>
          <a:bodyPr/>
          <a:lstStyle/>
          <a:p>
            <a:endParaRPr lang="en-US"/>
          </a:p>
        </p:txBody>
      </p:sp>
      <p:sp>
        <p:nvSpPr>
          <p:cNvPr id="6" name="Text 3"/>
          <p:cNvSpPr/>
          <p:nvPr/>
        </p:nvSpPr>
        <p:spPr>
          <a:xfrm>
            <a:off x="11338560" y="164592"/>
            <a:ext cx="566928" cy="237744"/>
          </a:xfrm>
          <a:prstGeom prst="rect">
            <a:avLst/>
          </a:prstGeom>
          <a:noFill/>
          <a:ln/>
        </p:spPr>
        <p:txBody>
          <a:bodyPr wrap="square" lIns="0" tIns="0" rIns="0" bIns="0" rtlCol="0" anchor="ctr"/>
          <a:lstStyle/>
          <a:p>
            <a:pPr marL="0" indent="0" algn="r">
              <a:buNone/>
            </a:pPr>
            <a:r>
              <a:rPr lang="en-US" sz="1100" b="1" dirty="0">
                <a:solidFill>
                  <a:srgbClr val="243040"/>
                </a:solidFill>
                <a:latin typeface="Calibri" pitchFamily="34" charset="0"/>
                <a:ea typeface="Calibri" pitchFamily="34" charset="-122"/>
                <a:cs typeface="Calibri" pitchFamily="34" charset="-120"/>
              </a:rPr>
              <a:t>02</a:t>
            </a:r>
            <a:endParaRPr lang="en-US" sz="1100" dirty="0"/>
          </a:p>
        </p:txBody>
      </p:sp>
      <p:sp>
        <p:nvSpPr>
          <p:cNvPr id="7" name="Text 4"/>
          <p:cNvSpPr/>
          <p:nvPr/>
        </p:nvSpPr>
        <p:spPr>
          <a:xfrm>
            <a:off x="384048" y="804672"/>
            <a:ext cx="7315200" cy="219456"/>
          </a:xfrm>
          <a:prstGeom prst="rect">
            <a:avLst/>
          </a:prstGeom>
          <a:noFill/>
          <a:ln/>
        </p:spPr>
        <p:txBody>
          <a:bodyPr wrap="square" lIns="0" tIns="0" rIns="0" bIns="0" rtlCol="0" anchor="ctr"/>
          <a:lstStyle/>
          <a:p>
            <a:pPr marL="0" indent="0">
              <a:buNone/>
            </a:pPr>
            <a:r>
              <a:rPr lang="en-US" sz="750" b="1" kern="0" spc="350" dirty="0">
                <a:solidFill>
                  <a:srgbClr val="4D8EF8"/>
                </a:solidFill>
                <a:latin typeface="Calibri" pitchFamily="34" charset="0"/>
                <a:ea typeface="Calibri" pitchFamily="34" charset="-122"/>
                <a:cs typeface="Calibri" pitchFamily="34" charset="-120"/>
              </a:rPr>
              <a:t>THE CHALLENGE</a:t>
            </a:r>
            <a:endParaRPr lang="en-US" sz="750" dirty="0"/>
          </a:p>
        </p:txBody>
      </p:sp>
      <p:sp>
        <p:nvSpPr>
          <p:cNvPr id="8" name="Text 5"/>
          <p:cNvSpPr/>
          <p:nvPr/>
        </p:nvSpPr>
        <p:spPr>
          <a:xfrm>
            <a:off x="384048" y="1005840"/>
            <a:ext cx="5376672" cy="1417320"/>
          </a:xfrm>
          <a:prstGeom prst="rect">
            <a:avLst/>
          </a:prstGeom>
          <a:noFill/>
          <a:ln/>
        </p:spPr>
        <p:txBody>
          <a:bodyPr wrap="square" lIns="0" tIns="0" rIns="0" bIns="0" rtlCol="0" anchor="ctr"/>
          <a:lstStyle/>
          <a:p>
            <a:pPr marL="0" indent="0">
              <a:buNone/>
            </a:pPr>
            <a:r>
              <a:rPr lang="en-US" sz="3000" b="1" dirty="0">
                <a:solidFill>
                  <a:srgbClr val="EDF3FA"/>
                </a:solidFill>
                <a:latin typeface="Cambria" pitchFamily="34" charset="0"/>
                <a:ea typeface="Cambria" pitchFamily="34" charset="-122"/>
                <a:cs typeface="Cambria" pitchFamily="34" charset="-120"/>
              </a:rPr>
              <a:t>Public Spaces</a:t>
            </a:r>
            <a:endParaRPr lang="en-US" sz="3000" dirty="0"/>
          </a:p>
          <a:p>
            <a:pPr marL="0" indent="0">
              <a:buNone/>
            </a:pPr>
            <a:r>
              <a:rPr lang="en-US" sz="3000" b="1" dirty="0">
                <a:solidFill>
                  <a:srgbClr val="EDF3FA"/>
                </a:solidFill>
                <a:latin typeface="Cambria" pitchFamily="34" charset="0"/>
                <a:ea typeface="Cambria" pitchFamily="34" charset="-122"/>
                <a:cs typeface="Cambria" pitchFamily="34" charset="-120"/>
              </a:rPr>
              <a:t>Deserve Better.</a:t>
            </a:r>
            <a:endParaRPr lang="en-US" sz="3000" dirty="0"/>
          </a:p>
        </p:txBody>
      </p:sp>
      <p:sp>
        <p:nvSpPr>
          <p:cNvPr id="9" name="Shape 6"/>
          <p:cNvSpPr/>
          <p:nvPr/>
        </p:nvSpPr>
        <p:spPr>
          <a:xfrm>
            <a:off x="384048" y="2542032"/>
            <a:ext cx="5376672" cy="105156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548640" y="2779776"/>
            <a:ext cx="384048" cy="384048"/>
          </a:xfrm>
          <a:prstGeom prst="rect">
            <a:avLst/>
          </a:prstGeom>
        </p:spPr>
      </p:pic>
      <p:sp>
        <p:nvSpPr>
          <p:cNvPr id="11" name="Text 7"/>
          <p:cNvSpPr/>
          <p:nvPr/>
        </p:nvSpPr>
        <p:spPr>
          <a:xfrm>
            <a:off x="1042416" y="2633472"/>
            <a:ext cx="4535424" cy="292608"/>
          </a:xfrm>
          <a:prstGeom prst="rect">
            <a:avLst/>
          </a:prstGeom>
          <a:noFill/>
          <a:ln/>
        </p:spPr>
        <p:txBody>
          <a:bodyPr wrap="square" lIns="0" tIns="0" rIns="0" bIns="0" rtlCol="0" anchor="ctr"/>
          <a:lstStyle/>
          <a:p>
            <a:pPr marL="0" indent="0">
              <a:buNone/>
            </a:pPr>
            <a:r>
              <a:rPr lang="en-US" sz="1200" b="1" dirty="0">
                <a:solidFill>
                  <a:srgbClr val="EDF3FA"/>
                </a:solidFill>
                <a:latin typeface="Calibri" pitchFamily="34" charset="0"/>
                <a:ea typeface="Calibri" pitchFamily="34" charset="-122"/>
                <a:cs typeface="Calibri" pitchFamily="34" charset="-120"/>
              </a:rPr>
              <a:t>No Emergency Access</a:t>
            </a:r>
            <a:endParaRPr lang="en-US" sz="1200" dirty="0"/>
          </a:p>
        </p:txBody>
      </p:sp>
      <p:sp>
        <p:nvSpPr>
          <p:cNvPr id="12" name="Text 8"/>
          <p:cNvSpPr/>
          <p:nvPr/>
        </p:nvSpPr>
        <p:spPr>
          <a:xfrm>
            <a:off x="1042416" y="2971800"/>
            <a:ext cx="4535424" cy="475488"/>
          </a:xfrm>
          <a:prstGeom prst="rect">
            <a:avLst/>
          </a:prstGeom>
          <a:noFill/>
          <a:ln/>
        </p:spPr>
        <p:txBody>
          <a:bodyPr wrap="square" lIns="0" tIns="0" rIns="0" bIns="0" rtlCol="0" anchor="ctr"/>
          <a:lstStyle/>
          <a:p>
            <a:pPr marL="0" indent="0">
              <a:buNone/>
            </a:pPr>
            <a:r>
              <a:rPr lang="en-US" sz="1000" dirty="0">
                <a:solidFill>
                  <a:srgbClr val="8090A2"/>
                </a:solidFill>
                <a:latin typeface="Calibri" pitchFamily="34" charset="0"/>
                <a:ea typeface="Calibri" pitchFamily="34" charset="-122"/>
                <a:cs typeface="Calibri" pitchFamily="34" charset="-120"/>
              </a:rPr>
              <a:t>Citizens in danger have no visible, physical way to reach help in a public emergency.</a:t>
            </a:r>
            <a:endParaRPr lang="en-US" sz="1000" dirty="0"/>
          </a:p>
        </p:txBody>
      </p:sp>
      <p:sp>
        <p:nvSpPr>
          <p:cNvPr id="13" name="Shape 9"/>
          <p:cNvSpPr/>
          <p:nvPr/>
        </p:nvSpPr>
        <p:spPr>
          <a:xfrm>
            <a:off x="384048" y="3712464"/>
            <a:ext cx="5376672" cy="105156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548640" y="3950208"/>
            <a:ext cx="384048" cy="384048"/>
          </a:xfrm>
          <a:prstGeom prst="rect">
            <a:avLst/>
          </a:prstGeom>
        </p:spPr>
      </p:pic>
      <p:sp>
        <p:nvSpPr>
          <p:cNvPr id="15" name="Text 10"/>
          <p:cNvSpPr/>
          <p:nvPr/>
        </p:nvSpPr>
        <p:spPr>
          <a:xfrm>
            <a:off x="1042416" y="3803904"/>
            <a:ext cx="4535424" cy="292608"/>
          </a:xfrm>
          <a:prstGeom prst="rect">
            <a:avLst/>
          </a:prstGeom>
          <a:noFill/>
          <a:ln/>
        </p:spPr>
        <p:txBody>
          <a:bodyPr wrap="square" lIns="0" tIns="0" rIns="0" bIns="0" rtlCol="0" anchor="ctr"/>
          <a:lstStyle/>
          <a:p>
            <a:pPr marL="0" indent="0">
              <a:buNone/>
            </a:pPr>
            <a:r>
              <a:rPr lang="en-US" sz="1200" b="1" dirty="0">
                <a:solidFill>
                  <a:srgbClr val="EDF3FA"/>
                </a:solidFill>
                <a:latin typeface="Calibri" pitchFamily="34" charset="0"/>
                <a:ea typeface="Calibri" pitchFamily="34" charset="-122"/>
                <a:cs typeface="Calibri" pitchFamily="34" charset="-120"/>
              </a:rPr>
              <a:t>Disconnected Spaces</a:t>
            </a:r>
            <a:endParaRPr lang="en-US" sz="1200" dirty="0"/>
          </a:p>
        </p:txBody>
      </p:sp>
      <p:sp>
        <p:nvSpPr>
          <p:cNvPr id="16" name="Text 11"/>
          <p:cNvSpPr/>
          <p:nvPr/>
        </p:nvSpPr>
        <p:spPr>
          <a:xfrm>
            <a:off x="1042416" y="4142232"/>
            <a:ext cx="4535424" cy="475488"/>
          </a:xfrm>
          <a:prstGeom prst="rect">
            <a:avLst/>
          </a:prstGeom>
          <a:noFill/>
          <a:ln/>
        </p:spPr>
        <p:txBody>
          <a:bodyPr wrap="square" lIns="0" tIns="0" rIns="0" bIns="0" rtlCol="0" anchor="ctr"/>
          <a:lstStyle/>
          <a:p>
            <a:pPr marL="0" indent="0">
              <a:buNone/>
            </a:pPr>
            <a:r>
              <a:rPr lang="en-US" sz="1000" dirty="0">
                <a:solidFill>
                  <a:srgbClr val="8090A2"/>
                </a:solidFill>
                <a:latin typeface="Calibri" pitchFamily="34" charset="0"/>
                <a:ea typeface="Calibri" pitchFamily="34" charset="-122"/>
                <a:cs typeface="Calibri" pitchFamily="34" charset="-120"/>
              </a:rPr>
              <a:t>Public environments lack the connected infrastructure needed for real-time safety and response.</a:t>
            </a:r>
            <a:endParaRPr lang="en-US" sz="1000" dirty="0"/>
          </a:p>
        </p:txBody>
      </p:sp>
      <p:sp>
        <p:nvSpPr>
          <p:cNvPr id="17" name="Shape 12"/>
          <p:cNvSpPr/>
          <p:nvPr/>
        </p:nvSpPr>
        <p:spPr>
          <a:xfrm>
            <a:off x="384048" y="4882896"/>
            <a:ext cx="5376672" cy="105156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548640" y="5120640"/>
            <a:ext cx="384048" cy="384048"/>
          </a:xfrm>
          <a:prstGeom prst="rect">
            <a:avLst/>
          </a:prstGeom>
        </p:spPr>
      </p:pic>
      <p:sp>
        <p:nvSpPr>
          <p:cNvPr id="19" name="Text 13"/>
          <p:cNvSpPr/>
          <p:nvPr/>
        </p:nvSpPr>
        <p:spPr>
          <a:xfrm>
            <a:off x="1042416" y="4974336"/>
            <a:ext cx="4535424" cy="292608"/>
          </a:xfrm>
          <a:prstGeom prst="rect">
            <a:avLst/>
          </a:prstGeom>
          <a:noFill/>
          <a:ln/>
        </p:spPr>
        <p:txBody>
          <a:bodyPr wrap="square" lIns="0" tIns="0" rIns="0" bIns="0" rtlCol="0" anchor="ctr"/>
          <a:lstStyle/>
          <a:p>
            <a:pPr marL="0" indent="0">
              <a:buNone/>
            </a:pPr>
            <a:r>
              <a:rPr lang="en-US" sz="1200" b="1" dirty="0">
                <a:solidFill>
                  <a:srgbClr val="EDF3FA"/>
                </a:solidFill>
                <a:latin typeface="Calibri" pitchFamily="34" charset="0"/>
                <a:ea typeface="Calibri" pitchFamily="34" charset="-122"/>
                <a:cs typeface="Calibri" pitchFamily="34" charset="-120"/>
              </a:rPr>
              <a:t>Untapped Urban Assets</a:t>
            </a:r>
            <a:endParaRPr lang="en-US" sz="1200" dirty="0"/>
          </a:p>
        </p:txBody>
      </p:sp>
      <p:sp>
        <p:nvSpPr>
          <p:cNvPr id="20" name="Text 14"/>
          <p:cNvSpPr/>
          <p:nvPr/>
        </p:nvSpPr>
        <p:spPr>
          <a:xfrm>
            <a:off x="1042416" y="5312664"/>
            <a:ext cx="4535424" cy="475488"/>
          </a:xfrm>
          <a:prstGeom prst="rect">
            <a:avLst/>
          </a:prstGeom>
          <a:noFill/>
          <a:ln/>
        </p:spPr>
        <p:txBody>
          <a:bodyPr wrap="square" lIns="0" tIns="0" rIns="0" bIns="0" rtlCol="0" anchor="ctr"/>
          <a:lstStyle/>
          <a:p>
            <a:pPr marL="0" indent="0">
              <a:buNone/>
            </a:pPr>
            <a:r>
              <a:rPr lang="en-US" sz="1000" dirty="0">
                <a:solidFill>
                  <a:srgbClr val="8090A2"/>
                </a:solidFill>
                <a:latin typeface="Calibri" pitchFamily="34" charset="0"/>
                <a:ea typeface="Calibri" pitchFamily="34" charset="-122"/>
                <a:cs typeface="Calibri" pitchFamily="34" charset="-120"/>
              </a:rPr>
              <a:t>Street furniture sits idle, generating no civic value and no safety benefit for the community.</a:t>
            </a:r>
            <a:endParaRPr lang="en-US" sz="1000" dirty="0"/>
          </a:p>
        </p:txBody>
      </p:sp>
      <p:sp>
        <p:nvSpPr>
          <p:cNvPr id="21" name="Shape 15"/>
          <p:cNvSpPr/>
          <p:nvPr/>
        </p:nvSpPr>
        <p:spPr>
          <a:xfrm>
            <a:off x="5943600" y="768096"/>
            <a:ext cx="18288" cy="5852160"/>
          </a:xfrm>
          <a:prstGeom prst="rect">
            <a:avLst/>
          </a:prstGeom>
          <a:solidFill>
            <a:srgbClr val="1C2530"/>
          </a:solidFill>
          <a:ln w="12700">
            <a:solidFill>
              <a:srgbClr val="1C2530"/>
            </a:solidFill>
            <a:prstDash val="solid"/>
          </a:ln>
        </p:spPr>
        <p:txBody>
          <a:bodyPr/>
          <a:lstStyle/>
          <a:p>
            <a:endParaRPr lang="en-US"/>
          </a:p>
        </p:txBody>
      </p:sp>
      <p:sp>
        <p:nvSpPr>
          <p:cNvPr id="22" name="Text 16"/>
          <p:cNvSpPr/>
          <p:nvPr/>
        </p:nvSpPr>
        <p:spPr>
          <a:xfrm>
            <a:off x="6272784" y="804672"/>
            <a:ext cx="7315200" cy="219456"/>
          </a:xfrm>
          <a:prstGeom prst="rect">
            <a:avLst/>
          </a:prstGeom>
          <a:noFill/>
          <a:ln/>
        </p:spPr>
        <p:txBody>
          <a:bodyPr wrap="square" lIns="0" tIns="0" rIns="0" bIns="0" rtlCol="0" anchor="ctr"/>
          <a:lstStyle/>
          <a:p>
            <a:pPr marL="0" indent="0">
              <a:buNone/>
            </a:pPr>
            <a:r>
              <a:rPr lang="en-US" sz="750" b="1" kern="0" spc="350" dirty="0">
                <a:solidFill>
                  <a:srgbClr val="4D8EF8"/>
                </a:solidFill>
                <a:latin typeface="Calibri" pitchFamily="34" charset="0"/>
                <a:ea typeface="Calibri" pitchFamily="34" charset="-122"/>
                <a:cs typeface="Calibri" pitchFamily="34" charset="-120"/>
              </a:rPr>
              <a:t>THE SOLUTION</a:t>
            </a:r>
            <a:endParaRPr lang="en-US" sz="750" dirty="0"/>
          </a:p>
        </p:txBody>
      </p:sp>
      <p:sp>
        <p:nvSpPr>
          <p:cNvPr id="23" name="Text 17"/>
          <p:cNvSpPr/>
          <p:nvPr/>
        </p:nvSpPr>
        <p:spPr>
          <a:xfrm>
            <a:off x="6272784" y="1005840"/>
            <a:ext cx="5596128" cy="1417320"/>
          </a:xfrm>
          <a:prstGeom prst="rect">
            <a:avLst/>
          </a:prstGeom>
          <a:noFill/>
          <a:ln/>
        </p:spPr>
        <p:txBody>
          <a:bodyPr wrap="square" lIns="0" tIns="0" rIns="0" bIns="0" rtlCol="0" anchor="ctr"/>
          <a:lstStyle/>
          <a:p>
            <a:pPr marL="0" indent="0">
              <a:buNone/>
            </a:pPr>
            <a:r>
              <a:rPr lang="en-US" sz="2800" b="1" dirty="0">
                <a:solidFill>
                  <a:srgbClr val="EDF3FA"/>
                </a:solidFill>
                <a:latin typeface="Cambria" pitchFamily="34" charset="0"/>
                <a:ea typeface="Cambria" pitchFamily="34" charset="-122"/>
                <a:cs typeface="Cambria" pitchFamily="34" charset="-120"/>
              </a:rPr>
              <a:t>One Intelligent</a:t>
            </a:r>
            <a:endParaRPr lang="en-US" sz="2800" dirty="0"/>
          </a:p>
          <a:p>
            <a:pPr marL="0" indent="0">
              <a:buNone/>
            </a:pPr>
            <a:r>
              <a:rPr lang="en-US" sz="2800" b="1" dirty="0">
                <a:solidFill>
                  <a:srgbClr val="EDF3FA"/>
                </a:solidFill>
                <a:latin typeface="Cambria" pitchFamily="34" charset="0"/>
                <a:ea typeface="Cambria" pitchFamily="34" charset="-122"/>
                <a:cs typeface="Cambria" pitchFamily="34" charset="-120"/>
              </a:rPr>
              <a:t>Infrastructure Pillar.</a:t>
            </a:r>
            <a:endParaRPr lang="en-US" sz="2800" dirty="0"/>
          </a:p>
        </p:txBody>
      </p:sp>
      <p:sp>
        <p:nvSpPr>
          <p:cNvPr id="24" name="Text 18"/>
          <p:cNvSpPr/>
          <p:nvPr/>
        </p:nvSpPr>
        <p:spPr>
          <a:xfrm>
            <a:off x="6272784" y="2487168"/>
            <a:ext cx="5596128" cy="868680"/>
          </a:xfrm>
          <a:prstGeom prst="rect">
            <a:avLst/>
          </a:prstGeom>
          <a:noFill/>
          <a:ln/>
        </p:spPr>
        <p:txBody>
          <a:bodyPr wrap="square" lIns="0" tIns="0" rIns="0" bIns="0" rtlCol="0" anchor="ctr"/>
          <a:lstStyle/>
          <a:p>
            <a:pPr marL="0" indent="0">
              <a:buNone/>
            </a:pPr>
            <a:r>
              <a:rPr lang="en-US" sz="1150" dirty="0">
                <a:solidFill>
                  <a:srgbClr val="C2CDD9"/>
                </a:solidFill>
                <a:latin typeface="Calibri" pitchFamily="34" charset="0"/>
                <a:ea typeface="Calibri" pitchFamily="34" charset="-122"/>
                <a:cs typeface="Calibri" pitchFamily="34" charset="-120"/>
              </a:rPr>
              <a:t>PRAHARI turns every public space into a productive, connected, and safe environment. It generates advertising value during the day and delivers emergency infrastructure whenever it is needed.</a:t>
            </a:r>
            <a:endParaRPr lang="en-US" sz="1150" dirty="0"/>
          </a:p>
        </p:txBody>
      </p:sp>
      <p:sp>
        <p:nvSpPr>
          <p:cNvPr id="25" name="Shape 19"/>
          <p:cNvSpPr/>
          <p:nvPr/>
        </p:nvSpPr>
        <p:spPr>
          <a:xfrm>
            <a:off x="6272784" y="3456432"/>
            <a:ext cx="5596128" cy="2670048"/>
          </a:xfrm>
          <a:prstGeom prst="rect">
            <a:avLst/>
          </a:prstGeom>
          <a:solidFill>
            <a:srgbClr val="0E1E3A"/>
          </a:solidFill>
          <a:ln w="12700">
            <a:solidFill>
              <a:srgbClr val="1A6CF0">
                <a:alpha val="48000"/>
              </a:srgbClr>
            </a:solidFill>
            <a:prstDash val="solid"/>
          </a:ln>
          <a:effectLst>
            <a:outerShdw blurRad="177800" dist="50800" dir="2700000" algn="bl" rotWithShape="0">
              <a:srgbClr val="000000">
                <a:alpha val="25000"/>
              </a:srgbClr>
            </a:outerShdw>
          </a:effectLst>
        </p:spPr>
        <p:txBody>
          <a:bodyPr/>
          <a:lstStyle/>
          <a:p>
            <a:endParaRPr lang="en-US"/>
          </a:p>
        </p:txBody>
      </p:sp>
      <p:sp>
        <p:nvSpPr>
          <p:cNvPr id="26" name="Shape 20"/>
          <p:cNvSpPr/>
          <p:nvPr/>
        </p:nvSpPr>
        <p:spPr>
          <a:xfrm>
            <a:off x="6272784" y="3456432"/>
            <a:ext cx="5596128" cy="45720"/>
          </a:xfrm>
          <a:prstGeom prst="rect">
            <a:avLst/>
          </a:prstGeom>
          <a:solidFill>
            <a:srgbClr val="1A6CF0"/>
          </a:solidFill>
          <a:ln w="12700">
            <a:solidFill>
              <a:srgbClr val="1A6CF0"/>
            </a:solidFill>
            <a:prstDash val="solid"/>
          </a:ln>
        </p:spPr>
        <p:txBody>
          <a:bodyPr/>
          <a:lstStyle/>
          <a:p>
            <a:endParaRPr lang="en-US"/>
          </a:p>
        </p:txBody>
      </p:sp>
      <p:sp>
        <p:nvSpPr>
          <p:cNvPr id="27" name="Text 21"/>
          <p:cNvSpPr/>
          <p:nvPr/>
        </p:nvSpPr>
        <p:spPr>
          <a:xfrm>
            <a:off x="6455664" y="3566160"/>
            <a:ext cx="5230368" cy="292608"/>
          </a:xfrm>
          <a:prstGeom prst="rect">
            <a:avLst/>
          </a:prstGeom>
          <a:noFill/>
          <a:ln/>
        </p:spPr>
        <p:txBody>
          <a:bodyPr wrap="square" lIns="0" tIns="0" rIns="0" bIns="0" rtlCol="0" anchor="ctr"/>
          <a:lstStyle/>
          <a:p>
            <a:pPr marL="0" indent="0">
              <a:buNone/>
            </a:pPr>
            <a:r>
              <a:rPr lang="en-US" sz="1100" b="1" dirty="0">
                <a:solidFill>
                  <a:srgbClr val="4D8EF8"/>
                </a:solidFill>
                <a:latin typeface="Calibri" pitchFamily="34" charset="0"/>
                <a:ea typeface="Calibri" pitchFamily="34" charset="-122"/>
                <a:cs typeface="Calibri" pitchFamily="34" charset="-120"/>
              </a:rPr>
              <a:t>Why PRAHARI Works</a:t>
            </a:r>
            <a:endParaRPr lang="en-US" sz="1100" dirty="0"/>
          </a:p>
        </p:txBody>
      </p:sp>
      <p:sp>
        <p:nvSpPr>
          <p:cNvPr id="28" name="Text 22"/>
          <p:cNvSpPr/>
          <p:nvPr/>
        </p:nvSpPr>
        <p:spPr>
          <a:xfrm>
            <a:off x="6455664" y="3959352"/>
            <a:ext cx="5230368" cy="438912"/>
          </a:xfrm>
          <a:prstGeom prst="rect">
            <a:avLst/>
          </a:prstGeom>
          <a:noFill/>
          <a:ln/>
        </p:spPr>
        <p:txBody>
          <a:bodyPr wrap="square" lIns="0" tIns="0" rIns="0" bIns="0" rtlCol="0" anchor="ctr"/>
          <a:lstStyle/>
          <a:p>
            <a:pPr marL="0" indent="0">
              <a:buNone/>
            </a:pPr>
            <a:r>
              <a:rPr lang="en-US" sz="1100" b="1" dirty="0">
                <a:solidFill>
                  <a:srgbClr val="4D8EF8"/>
                </a:solidFill>
                <a:latin typeface="Calibri" pitchFamily="34" charset="0"/>
                <a:ea typeface="Calibri" pitchFamily="34" charset="-122"/>
                <a:cs typeface="Calibri" pitchFamily="34" charset="-120"/>
              </a:rPr>
              <a:t>•  </a:t>
            </a:r>
            <a:r>
              <a:rPr lang="en-US" sz="1100" dirty="0">
                <a:solidFill>
                  <a:srgbClr val="C2CDD9"/>
                </a:solidFill>
                <a:latin typeface="Calibri" pitchFamily="34" charset="0"/>
                <a:ea typeface="Calibri" pitchFamily="34" charset="-122"/>
                <a:cs typeface="Calibri" pitchFamily="34" charset="-120"/>
              </a:rPr>
              <a:t>Advertising revenue funds public safety, with no public expenditure required</a:t>
            </a:r>
            <a:endParaRPr lang="en-US" sz="1100" dirty="0"/>
          </a:p>
        </p:txBody>
      </p:sp>
      <p:sp>
        <p:nvSpPr>
          <p:cNvPr id="29" name="Text 23"/>
          <p:cNvSpPr/>
          <p:nvPr/>
        </p:nvSpPr>
        <p:spPr>
          <a:xfrm>
            <a:off x="6455664" y="4471416"/>
            <a:ext cx="5230368" cy="438912"/>
          </a:xfrm>
          <a:prstGeom prst="rect">
            <a:avLst/>
          </a:prstGeom>
          <a:noFill/>
          <a:ln/>
        </p:spPr>
        <p:txBody>
          <a:bodyPr wrap="square" lIns="0" tIns="0" rIns="0" bIns="0" rtlCol="0" anchor="ctr"/>
          <a:lstStyle/>
          <a:p>
            <a:pPr marL="0" indent="0">
              <a:buNone/>
            </a:pPr>
            <a:r>
              <a:rPr lang="en-US" sz="1100" b="1" dirty="0">
                <a:solidFill>
                  <a:srgbClr val="4D8EF8"/>
                </a:solidFill>
                <a:latin typeface="Calibri" pitchFamily="34" charset="0"/>
                <a:ea typeface="Calibri" pitchFamily="34" charset="-122"/>
                <a:cs typeface="Calibri" pitchFamily="34" charset="-120"/>
              </a:rPr>
              <a:t>•  </a:t>
            </a:r>
            <a:r>
              <a:rPr lang="en-US" sz="1100" dirty="0">
                <a:solidFill>
                  <a:srgbClr val="C2CDD9"/>
                </a:solidFill>
                <a:latin typeface="Calibri" pitchFamily="34" charset="0"/>
                <a:ea typeface="Calibri" pitchFamily="34" charset="-122"/>
                <a:cs typeface="Calibri" pitchFamily="34" charset="-120"/>
              </a:rPr>
              <a:t>Citizens get visible, accessible emergency access every hour of the day</a:t>
            </a:r>
            <a:endParaRPr lang="en-US" sz="1100" dirty="0"/>
          </a:p>
        </p:txBody>
      </p:sp>
      <p:sp>
        <p:nvSpPr>
          <p:cNvPr id="30" name="Text 24"/>
          <p:cNvSpPr/>
          <p:nvPr/>
        </p:nvSpPr>
        <p:spPr>
          <a:xfrm>
            <a:off x="6455664" y="4983480"/>
            <a:ext cx="5230368" cy="438912"/>
          </a:xfrm>
          <a:prstGeom prst="rect">
            <a:avLst/>
          </a:prstGeom>
          <a:noFill/>
          <a:ln/>
        </p:spPr>
        <p:txBody>
          <a:bodyPr wrap="square" lIns="0" tIns="0" rIns="0" bIns="0" rtlCol="0" anchor="ctr"/>
          <a:lstStyle/>
          <a:p>
            <a:pPr marL="0" indent="0">
              <a:buNone/>
            </a:pPr>
            <a:r>
              <a:rPr lang="en-US" sz="1100" b="1" dirty="0">
                <a:solidFill>
                  <a:srgbClr val="4D8EF8"/>
                </a:solidFill>
                <a:latin typeface="Calibri" pitchFamily="34" charset="0"/>
                <a:ea typeface="Calibri" pitchFamily="34" charset="-122"/>
                <a:cs typeface="Calibri" pitchFamily="34" charset="-120"/>
              </a:rPr>
              <a:t>•  </a:t>
            </a:r>
            <a:r>
              <a:rPr lang="en-US" sz="1100" dirty="0">
                <a:solidFill>
                  <a:srgbClr val="C2CDD9"/>
                </a:solidFill>
                <a:latin typeface="Calibri" pitchFamily="34" charset="0"/>
                <a:ea typeface="Calibri" pitchFamily="34" charset="-122"/>
                <a:cs typeface="Calibri" pitchFamily="34" charset="-120"/>
              </a:rPr>
              <a:t>Cities gain real-time monitoring and direct communication with the public</a:t>
            </a:r>
            <a:endParaRPr lang="en-US" sz="1100" dirty="0"/>
          </a:p>
        </p:txBody>
      </p:sp>
      <p:sp>
        <p:nvSpPr>
          <p:cNvPr id="31" name="Text 25"/>
          <p:cNvSpPr/>
          <p:nvPr/>
        </p:nvSpPr>
        <p:spPr>
          <a:xfrm>
            <a:off x="6455664" y="5495544"/>
            <a:ext cx="5230368" cy="438912"/>
          </a:xfrm>
          <a:prstGeom prst="rect">
            <a:avLst/>
          </a:prstGeom>
          <a:noFill/>
          <a:ln/>
        </p:spPr>
        <p:txBody>
          <a:bodyPr wrap="square" lIns="0" tIns="0" rIns="0" bIns="0" rtlCol="0" anchor="ctr"/>
          <a:lstStyle/>
          <a:p>
            <a:pPr marL="0" indent="0">
              <a:buNone/>
            </a:pPr>
            <a:r>
              <a:rPr lang="en-US" sz="1100" b="1" dirty="0">
                <a:solidFill>
                  <a:srgbClr val="4D8EF8"/>
                </a:solidFill>
                <a:latin typeface="Calibri" pitchFamily="34" charset="0"/>
                <a:ea typeface="Calibri" pitchFamily="34" charset="-122"/>
                <a:cs typeface="Calibri" pitchFamily="34" charset="-120"/>
              </a:rPr>
              <a:t>•  </a:t>
            </a:r>
            <a:r>
              <a:rPr lang="en-US" sz="1100" dirty="0">
                <a:solidFill>
                  <a:srgbClr val="C2CDD9"/>
                </a:solidFill>
                <a:latin typeface="Calibri" pitchFamily="34" charset="0"/>
                <a:ea typeface="Calibri" pitchFamily="34" charset="-122"/>
                <a:cs typeface="Calibri" pitchFamily="34" charset="-120"/>
              </a:rPr>
              <a:t>Local businesses get affordable, hyperlocal outdoor advertising</a:t>
            </a:r>
            <a:endParaRPr lang="en-US" sz="1100" dirty="0"/>
          </a:p>
        </p:txBody>
      </p:sp>
      <p:sp>
        <p:nvSpPr>
          <p:cNvPr id="32" name="Shape 26"/>
          <p:cNvSpPr/>
          <p:nvPr/>
        </p:nvSpPr>
        <p:spPr>
          <a:xfrm>
            <a:off x="0" y="6620256"/>
            <a:ext cx="12161520" cy="237744"/>
          </a:xfrm>
          <a:prstGeom prst="rect">
            <a:avLst/>
          </a:prstGeom>
          <a:solidFill>
            <a:srgbClr val="07090D"/>
          </a:solidFill>
          <a:ln w="12700">
            <a:solidFill>
              <a:srgbClr val="07090D"/>
            </a:solidFill>
            <a:prstDash val="solid"/>
          </a:ln>
        </p:spPr>
        <p:txBody>
          <a:bodyPr/>
          <a:lstStyle/>
          <a:p>
            <a:endParaRPr lang="en-US"/>
          </a:p>
        </p:txBody>
      </p:sp>
      <p:sp>
        <p:nvSpPr>
          <p:cNvPr id="33" name="Text 27"/>
          <p:cNvSpPr/>
          <p:nvPr/>
        </p:nvSpPr>
        <p:spPr>
          <a:xfrm>
            <a:off x="0" y="6656832"/>
            <a:ext cx="12161520" cy="164592"/>
          </a:xfrm>
          <a:prstGeom prst="rect">
            <a:avLst/>
          </a:prstGeom>
          <a:noFill/>
          <a:ln/>
        </p:spPr>
        <p:txBody>
          <a:bodyPr wrap="square" lIns="0" tIns="0" rIns="0" bIns="0" rtlCol="0" anchor="ctr"/>
          <a:lstStyle/>
          <a:p>
            <a:pPr marL="0" indent="0" algn="ctr">
              <a:buNone/>
            </a:pPr>
            <a:r>
              <a:rPr lang="en-US" sz="700" dirty="0">
                <a:solidFill>
                  <a:srgbClr val="243040"/>
                </a:solidFill>
                <a:latin typeface="Calibri" pitchFamily="34" charset="0"/>
                <a:ea typeface="Calibri" pitchFamily="34" charset="-122"/>
                <a:cs typeface="Calibri" pitchFamily="34" charset="-120"/>
              </a:rPr>
              <a:t>prahari-official.vercel.app   vasudeepkohli@gmail.com   +91 77809 87246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9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594360"/>
          </a:xfrm>
          <a:prstGeom prst="rect">
            <a:avLst/>
          </a:prstGeom>
          <a:solidFill>
            <a:srgbClr val="07090D"/>
          </a:solidFill>
          <a:ln w="12700">
            <a:solidFill>
              <a:srgbClr val="07090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466344" cy="466344"/>
          </a:xfrm>
          <a:prstGeom prst="rect">
            <a:avLst/>
          </a:prstGeom>
        </p:spPr>
      </p:pic>
      <p:sp>
        <p:nvSpPr>
          <p:cNvPr id="4" name="Text 1"/>
          <p:cNvSpPr/>
          <p:nvPr/>
        </p:nvSpPr>
        <p:spPr>
          <a:xfrm>
            <a:off x="804672" y="192024"/>
            <a:ext cx="3657600" cy="219456"/>
          </a:xfrm>
          <a:prstGeom prst="rect">
            <a:avLst/>
          </a:prstGeom>
          <a:noFill/>
          <a:ln/>
        </p:spPr>
        <p:txBody>
          <a:bodyPr wrap="square" lIns="0" tIns="0" rIns="0" bIns="0" rtlCol="0" anchor="ctr"/>
          <a:lstStyle/>
          <a:p>
            <a:pPr marL="0" indent="0">
              <a:buNone/>
            </a:pPr>
            <a:r>
              <a:rPr lang="en-US" sz="780" b="1" kern="0" spc="300" dirty="0">
                <a:solidFill>
                  <a:srgbClr val="8090A2"/>
                </a:solidFill>
                <a:latin typeface="Calibri" pitchFamily="34" charset="0"/>
                <a:ea typeface="Calibri" pitchFamily="34" charset="-122"/>
                <a:cs typeface="Calibri" pitchFamily="34" charset="-120"/>
              </a:rPr>
              <a:t>PRAHARI GRID SYSTEMS</a:t>
            </a:r>
            <a:endParaRPr lang="en-US" sz="780" dirty="0"/>
          </a:p>
        </p:txBody>
      </p:sp>
      <p:sp>
        <p:nvSpPr>
          <p:cNvPr id="5" name="Shape 2"/>
          <p:cNvSpPr/>
          <p:nvPr/>
        </p:nvSpPr>
        <p:spPr>
          <a:xfrm>
            <a:off x="0" y="589788"/>
            <a:ext cx="12161520" cy="18288"/>
          </a:xfrm>
          <a:prstGeom prst="rect">
            <a:avLst/>
          </a:prstGeom>
          <a:solidFill>
            <a:srgbClr val="1A6CF0"/>
          </a:solidFill>
          <a:ln w="12700">
            <a:solidFill>
              <a:srgbClr val="1A6CF0"/>
            </a:solidFill>
            <a:prstDash val="solid"/>
          </a:ln>
        </p:spPr>
        <p:txBody>
          <a:bodyPr/>
          <a:lstStyle/>
          <a:p>
            <a:endParaRPr lang="en-US"/>
          </a:p>
        </p:txBody>
      </p:sp>
      <p:sp>
        <p:nvSpPr>
          <p:cNvPr id="6" name="Text 3"/>
          <p:cNvSpPr/>
          <p:nvPr/>
        </p:nvSpPr>
        <p:spPr>
          <a:xfrm>
            <a:off x="11338560" y="164592"/>
            <a:ext cx="566928" cy="237744"/>
          </a:xfrm>
          <a:prstGeom prst="rect">
            <a:avLst/>
          </a:prstGeom>
          <a:noFill/>
          <a:ln/>
        </p:spPr>
        <p:txBody>
          <a:bodyPr wrap="square" lIns="0" tIns="0" rIns="0" bIns="0" rtlCol="0" anchor="ctr"/>
          <a:lstStyle/>
          <a:p>
            <a:pPr marL="0" indent="0" algn="r">
              <a:buNone/>
            </a:pPr>
            <a:r>
              <a:rPr lang="en-US" sz="1100" b="1" dirty="0">
                <a:solidFill>
                  <a:srgbClr val="243040"/>
                </a:solidFill>
                <a:latin typeface="Calibri" pitchFamily="34" charset="0"/>
                <a:ea typeface="Calibri" pitchFamily="34" charset="-122"/>
                <a:cs typeface="Calibri" pitchFamily="34" charset="-120"/>
              </a:rPr>
              <a:t>03</a:t>
            </a:r>
            <a:endParaRPr lang="en-US" sz="1100" dirty="0"/>
          </a:p>
        </p:txBody>
      </p:sp>
      <p:sp>
        <p:nvSpPr>
          <p:cNvPr id="7" name="Text 4"/>
          <p:cNvSpPr/>
          <p:nvPr/>
        </p:nvSpPr>
        <p:spPr>
          <a:xfrm>
            <a:off x="365760" y="713232"/>
            <a:ext cx="7315200" cy="219456"/>
          </a:xfrm>
          <a:prstGeom prst="rect">
            <a:avLst/>
          </a:prstGeom>
          <a:noFill/>
          <a:ln/>
        </p:spPr>
        <p:txBody>
          <a:bodyPr wrap="square" lIns="0" tIns="0" rIns="0" bIns="0" rtlCol="0" anchor="ctr"/>
          <a:lstStyle/>
          <a:p>
            <a:pPr marL="0" indent="0">
              <a:buNone/>
            </a:pPr>
            <a:r>
              <a:rPr lang="en-US" sz="750" b="1" kern="0" spc="350" dirty="0">
                <a:solidFill>
                  <a:srgbClr val="4D8EF8"/>
                </a:solidFill>
                <a:latin typeface="Calibri" pitchFamily="34" charset="0"/>
                <a:ea typeface="Calibri" pitchFamily="34" charset="-122"/>
                <a:cs typeface="Calibri" pitchFamily="34" charset="-120"/>
              </a:rPr>
              <a:t>MEET PRAHARI</a:t>
            </a:r>
            <a:endParaRPr lang="en-US" sz="750" dirty="0"/>
          </a:p>
        </p:txBody>
      </p:sp>
      <p:sp>
        <p:nvSpPr>
          <p:cNvPr id="8" name="Text 5"/>
          <p:cNvSpPr/>
          <p:nvPr/>
        </p:nvSpPr>
        <p:spPr>
          <a:xfrm>
            <a:off x="365760" y="914400"/>
            <a:ext cx="7315200" cy="457200"/>
          </a:xfrm>
          <a:prstGeom prst="rect">
            <a:avLst/>
          </a:prstGeom>
          <a:noFill/>
          <a:ln/>
        </p:spPr>
        <p:txBody>
          <a:bodyPr wrap="square" lIns="0" tIns="0" rIns="0" bIns="0" rtlCol="0" anchor="ctr"/>
          <a:lstStyle/>
          <a:p>
            <a:pPr marL="0" indent="0">
              <a:buNone/>
            </a:pPr>
            <a:r>
              <a:rPr lang="en-US" sz="2000" b="1" dirty="0">
                <a:solidFill>
                  <a:srgbClr val="EDF3FA"/>
                </a:solidFill>
                <a:latin typeface="Cambria" pitchFamily="34" charset="0"/>
                <a:ea typeface="Cambria" pitchFamily="34" charset="-122"/>
                <a:cs typeface="Cambria" pitchFamily="34" charset="-120"/>
              </a:rPr>
              <a:t>Engineered for Urban India.</a:t>
            </a:r>
            <a:endParaRPr lang="en-US" sz="2000" dirty="0"/>
          </a:p>
        </p:txBody>
      </p:sp>
      <p:sp>
        <p:nvSpPr>
          <p:cNvPr id="9" name="Shape 6"/>
          <p:cNvSpPr/>
          <p:nvPr/>
        </p:nvSpPr>
        <p:spPr>
          <a:xfrm>
            <a:off x="3977640" y="1481328"/>
            <a:ext cx="4206240" cy="5074920"/>
          </a:xfrm>
          <a:prstGeom prst="rect">
            <a:avLst/>
          </a:prstGeom>
          <a:solidFill>
            <a:srgbClr val="FAFAFA"/>
          </a:solidFill>
          <a:ln w="12700">
            <a:solidFill>
              <a:srgbClr val="FAFAFA"/>
            </a:solidFill>
            <a:prstDash val="solid"/>
          </a:ln>
          <a:effectLst>
            <a:outerShdw blurRad="330200" dist="76200" dir="2700000" algn="bl" rotWithShape="0">
              <a:srgbClr val="000000">
                <a:alpha val="42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4464268" y="1600200"/>
            <a:ext cx="3232985" cy="4846320"/>
          </a:xfrm>
          <a:prstGeom prst="rect">
            <a:avLst/>
          </a:prstGeom>
        </p:spPr>
      </p:pic>
      <p:sp>
        <p:nvSpPr>
          <p:cNvPr id="11" name="Shape 7"/>
          <p:cNvSpPr/>
          <p:nvPr/>
        </p:nvSpPr>
        <p:spPr>
          <a:xfrm>
            <a:off x="292608" y="1600200"/>
            <a:ext cx="2651760" cy="96012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12" name="Shape 8"/>
          <p:cNvSpPr/>
          <p:nvPr/>
        </p:nvSpPr>
        <p:spPr>
          <a:xfrm>
            <a:off x="2944368" y="1965960"/>
            <a:ext cx="987552" cy="0"/>
          </a:xfrm>
          <a:prstGeom prst="line">
            <a:avLst/>
          </a:prstGeom>
          <a:noFill/>
          <a:ln w="12700">
            <a:solidFill>
              <a:srgbClr val="1A6CF0">
                <a:alpha val="65000"/>
              </a:srgbClr>
            </a:solidFill>
            <a:prstDash val="solid"/>
          </a:ln>
        </p:spPr>
        <p:txBody>
          <a:bodyPr/>
          <a:lstStyle/>
          <a:p>
            <a:endParaRPr lang="en-US"/>
          </a:p>
        </p:txBody>
      </p:sp>
      <p:sp>
        <p:nvSpPr>
          <p:cNvPr id="13" name="Shape 9"/>
          <p:cNvSpPr/>
          <p:nvPr/>
        </p:nvSpPr>
        <p:spPr>
          <a:xfrm>
            <a:off x="3877056" y="1911096"/>
            <a:ext cx="109728" cy="109728"/>
          </a:xfrm>
          <a:prstGeom prst="line">
            <a:avLst/>
          </a:prstGeom>
          <a:solidFill>
            <a:srgbClr val="1A6CF0"/>
          </a:solidFill>
          <a:ln w="12700">
            <a:solidFill>
              <a:srgbClr val="1A6CF0"/>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438912" y="1709928"/>
            <a:ext cx="329184" cy="329184"/>
          </a:xfrm>
          <a:prstGeom prst="rect">
            <a:avLst/>
          </a:prstGeom>
        </p:spPr>
      </p:pic>
      <p:sp>
        <p:nvSpPr>
          <p:cNvPr id="15" name="Text 10"/>
          <p:cNvSpPr/>
          <p:nvPr/>
        </p:nvSpPr>
        <p:spPr>
          <a:xfrm>
            <a:off x="420624" y="2103120"/>
            <a:ext cx="2468880" cy="256032"/>
          </a:xfrm>
          <a:prstGeom prst="rect">
            <a:avLst/>
          </a:prstGeom>
          <a:noFill/>
          <a:ln/>
        </p:spPr>
        <p:txBody>
          <a:bodyPr wrap="square" lIns="0" tIns="0" rIns="0" bIns="0" rtlCol="0" anchor="ctr"/>
          <a:lstStyle/>
          <a:p>
            <a:pPr marL="0" indent="0">
              <a:buNone/>
            </a:pPr>
            <a:r>
              <a:rPr lang="en-US" sz="1080" b="1" dirty="0">
                <a:solidFill>
                  <a:srgbClr val="EDF3FA"/>
                </a:solidFill>
                <a:latin typeface="Calibri" pitchFamily="34" charset="0"/>
                <a:ea typeface="Calibri" pitchFamily="34" charset="-122"/>
                <a:cs typeface="Calibri" pitchFamily="34" charset="-120"/>
              </a:rPr>
              <a:t>360 Degree Surveillance</a:t>
            </a:r>
            <a:endParaRPr lang="en-US" sz="1080" dirty="0"/>
          </a:p>
        </p:txBody>
      </p:sp>
      <p:sp>
        <p:nvSpPr>
          <p:cNvPr id="16" name="Text 11"/>
          <p:cNvSpPr/>
          <p:nvPr/>
        </p:nvSpPr>
        <p:spPr>
          <a:xfrm>
            <a:off x="420624" y="2331720"/>
            <a:ext cx="2468880" cy="219456"/>
          </a:xfrm>
          <a:prstGeom prst="rect">
            <a:avLst/>
          </a:prstGeom>
          <a:noFill/>
          <a:ln/>
        </p:spPr>
        <p:txBody>
          <a:bodyPr wrap="square" lIns="0" tIns="0" rIns="0" bIns="0" rtlCol="0" anchor="ctr"/>
          <a:lstStyle/>
          <a:p>
            <a:pPr marL="0" indent="0">
              <a:buNone/>
            </a:pPr>
            <a:r>
              <a:rPr lang="en-US" sz="900" dirty="0">
                <a:solidFill>
                  <a:srgbClr val="8090A2"/>
                </a:solidFill>
                <a:latin typeface="Calibri" pitchFamily="34" charset="0"/>
                <a:ea typeface="Calibri" pitchFamily="34" charset="-122"/>
                <a:cs typeface="Calibri" pitchFamily="34" charset="-120"/>
              </a:rPr>
              <a:t>Dome camera, continuous coverage</a:t>
            </a:r>
            <a:endParaRPr lang="en-US" sz="900" dirty="0"/>
          </a:p>
        </p:txBody>
      </p:sp>
      <p:sp>
        <p:nvSpPr>
          <p:cNvPr id="17" name="Shape 12"/>
          <p:cNvSpPr/>
          <p:nvPr/>
        </p:nvSpPr>
        <p:spPr>
          <a:xfrm>
            <a:off x="292608" y="2834640"/>
            <a:ext cx="2651760" cy="96012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18" name="Shape 13"/>
          <p:cNvSpPr/>
          <p:nvPr/>
        </p:nvSpPr>
        <p:spPr>
          <a:xfrm>
            <a:off x="2944368" y="3200400"/>
            <a:ext cx="987552" cy="0"/>
          </a:xfrm>
          <a:prstGeom prst="line">
            <a:avLst/>
          </a:prstGeom>
          <a:noFill/>
          <a:ln w="12700">
            <a:solidFill>
              <a:srgbClr val="1A6CF0">
                <a:alpha val="65000"/>
              </a:srgbClr>
            </a:solidFill>
            <a:prstDash val="solid"/>
          </a:ln>
        </p:spPr>
        <p:txBody>
          <a:bodyPr/>
          <a:lstStyle/>
          <a:p>
            <a:endParaRPr lang="en-US"/>
          </a:p>
        </p:txBody>
      </p:sp>
      <p:sp>
        <p:nvSpPr>
          <p:cNvPr id="19" name="Shape 14"/>
          <p:cNvSpPr/>
          <p:nvPr/>
        </p:nvSpPr>
        <p:spPr>
          <a:xfrm>
            <a:off x="3877056" y="3145536"/>
            <a:ext cx="109728" cy="109728"/>
          </a:xfrm>
          <a:prstGeom prst="line">
            <a:avLst/>
          </a:prstGeom>
          <a:solidFill>
            <a:srgbClr val="1A6CF0"/>
          </a:solidFill>
          <a:ln w="12700">
            <a:solidFill>
              <a:srgbClr val="1A6CF0"/>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438912" y="2944368"/>
            <a:ext cx="329184" cy="329184"/>
          </a:xfrm>
          <a:prstGeom prst="rect">
            <a:avLst/>
          </a:prstGeom>
        </p:spPr>
      </p:pic>
      <p:sp>
        <p:nvSpPr>
          <p:cNvPr id="21" name="Text 15"/>
          <p:cNvSpPr/>
          <p:nvPr/>
        </p:nvSpPr>
        <p:spPr>
          <a:xfrm>
            <a:off x="420624" y="3337560"/>
            <a:ext cx="2468880" cy="256032"/>
          </a:xfrm>
          <a:prstGeom prst="rect">
            <a:avLst/>
          </a:prstGeom>
          <a:noFill/>
          <a:ln/>
        </p:spPr>
        <p:txBody>
          <a:bodyPr wrap="square" lIns="0" tIns="0" rIns="0" bIns="0" rtlCol="0" anchor="ctr"/>
          <a:lstStyle/>
          <a:p>
            <a:pPr marL="0" indent="0">
              <a:buNone/>
            </a:pPr>
            <a:r>
              <a:rPr lang="en-US" sz="1080" b="1" dirty="0">
                <a:solidFill>
                  <a:srgbClr val="EDF3FA"/>
                </a:solidFill>
                <a:latin typeface="Calibri" pitchFamily="34" charset="0"/>
                <a:ea typeface="Calibri" pitchFamily="34" charset="-122"/>
                <a:cs typeface="Calibri" pitchFamily="34" charset="-120"/>
              </a:rPr>
              <a:t>Smart Digital Display</a:t>
            </a:r>
            <a:endParaRPr lang="en-US" sz="1080" dirty="0"/>
          </a:p>
        </p:txBody>
      </p:sp>
      <p:sp>
        <p:nvSpPr>
          <p:cNvPr id="22" name="Text 16"/>
          <p:cNvSpPr/>
          <p:nvPr/>
        </p:nvSpPr>
        <p:spPr>
          <a:xfrm>
            <a:off x="420624" y="3566160"/>
            <a:ext cx="2468880" cy="219456"/>
          </a:xfrm>
          <a:prstGeom prst="rect">
            <a:avLst/>
          </a:prstGeom>
          <a:noFill/>
          <a:ln/>
        </p:spPr>
        <p:txBody>
          <a:bodyPr wrap="square" lIns="0" tIns="0" rIns="0" bIns="0" rtlCol="0" anchor="ctr"/>
          <a:lstStyle/>
          <a:p>
            <a:pPr marL="0" indent="0">
              <a:buNone/>
            </a:pPr>
            <a:r>
              <a:rPr lang="en-US" sz="900" dirty="0">
                <a:solidFill>
                  <a:srgbClr val="8090A2"/>
                </a:solidFill>
                <a:latin typeface="Calibri" pitchFamily="34" charset="0"/>
                <a:ea typeface="Calibri" pitchFamily="34" charset="-122"/>
                <a:cs typeface="Calibri" pitchFamily="34" charset="-120"/>
              </a:rPr>
              <a:t>High-brightness outdoor screen</a:t>
            </a:r>
            <a:endParaRPr lang="en-US" sz="900" dirty="0"/>
          </a:p>
        </p:txBody>
      </p:sp>
      <p:sp>
        <p:nvSpPr>
          <p:cNvPr id="23" name="Shape 17"/>
          <p:cNvSpPr/>
          <p:nvPr/>
        </p:nvSpPr>
        <p:spPr>
          <a:xfrm>
            <a:off x="292608" y="4160520"/>
            <a:ext cx="2651760" cy="96012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24" name="Shape 18"/>
          <p:cNvSpPr/>
          <p:nvPr/>
        </p:nvSpPr>
        <p:spPr>
          <a:xfrm>
            <a:off x="2944368" y="4526280"/>
            <a:ext cx="987552" cy="0"/>
          </a:xfrm>
          <a:prstGeom prst="line">
            <a:avLst/>
          </a:prstGeom>
          <a:noFill/>
          <a:ln w="12700">
            <a:solidFill>
              <a:srgbClr val="1A6CF0">
                <a:alpha val="65000"/>
              </a:srgbClr>
            </a:solidFill>
            <a:prstDash val="solid"/>
          </a:ln>
        </p:spPr>
        <p:txBody>
          <a:bodyPr/>
          <a:lstStyle/>
          <a:p>
            <a:endParaRPr lang="en-US"/>
          </a:p>
        </p:txBody>
      </p:sp>
      <p:sp>
        <p:nvSpPr>
          <p:cNvPr id="25" name="Shape 19"/>
          <p:cNvSpPr/>
          <p:nvPr/>
        </p:nvSpPr>
        <p:spPr>
          <a:xfrm>
            <a:off x="3877056" y="4471416"/>
            <a:ext cx="109728" cy="109728"/>
          </a:xfrm>
          <a:prstGeom prst="line">
            <a:avLst/>
          </a:prstGeom>
          <a:solidFill>
            <a:srgbClr val="1A6CF0"/>
          </a:solidFill>
          <a:ln w="12700">
            <a:solidFill>
              <a:srgbClr val="1A6CF0"/>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38912" y="4270248"/>
            <a:ext cx="329184" cy="329184"/>
          </a:xfrm>
          <a:prstGeom prst="rect">
            <a:avLst/>
          </a:prstGeom>
        </p:spPr>
      </p:pic>
      <p:sp>
        <p:nvSpPr>
          <p:cNvPr id="27" name="Text 20"/>
          <p:cNvSpPr/>
          <p:nvPr/>
        </p:nvSpPr>
        <p:spPr>
          <a:xfrm>
            <a:off x="420624" y="4663440"/>
            <a:ext cx="2468880" cy="256032"/>
          </a:xfrm>
          <a:prstGeom prst="rect">
            <a:avLst/>
          </a:prstGeom>
          <a:noFill/>
          <a:ln/>
        </p:spPr>
        <p:txBody>
          <a:bodyPr wrap="square" lIns="0" tIns="0" rIns="0" bIns="0" rtlCol="0" anchor="ctr"/>
          <a:lstStyle/>
          <a:p>
            <a:pPr marL="0" indent="0">
              <a:buNone/>
            </a:pPr>
            <a:r>
              <a:rPr lang="en-US" sz="1080" b="1" dirty="0">
                <a:solidFill>
                  <a:srgbClr val="EDF3FA"/>
                </a:solidFill>
                <a:latin typeface="Calibri" pitchFamily="34" charset="0"/>
                <a:ea typeface="Calibri" pitchFamily="34" charset="-122"/>
                <a:cs typeface="Calibri" pitchFamily="34" charset="-120"/>
              </a:rPr>
              <a:t>Public Announcements</a:t>
            </a:r>
            <a:endParaRPr lang="en-US" sz="1080" dirty="0"/>
          </a:p>
        </p:txBody>
      </p:sp>
      <p:sp>
        <p:nvSpPr>
          <p:cNvPr id="28" name="Text 21"/>
          <p:cNvSpPr/>
          <p:nvPr/>
        </p:nvSpPr>
        <p:spPr>
          <a:xfrm>
            <a:off x="420624" y="4892040"/>
            <a:ext cx="2468880" cy="219456"/>
          </a:xfrm>
          <a:prstGeom prst="rect">
            <a:avLst/>
          </a:prstGeom>
          <a:noFill/>
          <a:ln/>
        </p:spPr>
        <p:txBody>
          <a:bodyPr wrap="square" lIns="0" tIns="0" rIns="0" bIns="0" rtlCol="0" anchor="ctr"/>
          <a:lstStyle/>
          <a:p>
            <a:pPr marL="0" indent="0">
              <a:buNone/>
            </a:pPr>
            <a:r>
              <a:rPr lang="en-US" sz="900" dirty="0">
                <a:solidFill>
                  <a:srgbClr val="8090A2"/>
                </a:solidFill>
                <a:latin typeface="Calibri" pitchFamily="34" charset="0"/>
                <a:ea typeface="Calibri" pitchFamily="34" charset="-122"/>
                <a:cs typeface="Calibri" pitchFamily="34" charset="-120"/>
              </a:rPr>
              <a:t>Wide-area broadcast capability</a:t>
            </a:r>
            <a:endParaRPr lang="en-US" sz="900" dirty="0"/>
          </a:p>
        </p:txBody>
      </p:sp>
      <p:sp>
        <p:nvSpPr>
          <p:cNvPr id="29" name="Shape 22"/>
          <p:cNvSpPr/>
          <p:nvPr/>
        </p:nvSpPr>
        <p:spPr>
          <a:xfrm>
            <a:off x="292608" y="5394960"/>
            <a:ext cx="2651760" cy="96012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30" name="Shape 23"/>
          <p:cNvSpPr/>
          <p:nvPr/>
        </p:nvSpPr>
        <p:spPr>
          <a:xfrm>
            <a:off x="2944368" y="5760720"/>
            <a:ext cx="987552" cy="0"/>
          </a:xfrm>
          <a:prstGeom prst="line">
            <a:avLst/>
          </a:prstGeom>
          <a:noFill/>
          <a:ln w="12700">
            <a:solidFill>
              <a:srgbClr val="1A6CF0">
                <a:alpha val="65000"/>
              </a:srgbClr>
            </a:solidFill>
            <a:prstDash val="solid"/>
          </a:ln>
        </p:spPr>
        <p:txBody>
          <a:bodyPr/>
          <a:lstStyle/>
          <a:p>
            <a:endParaRPr lang="en-US"/>
          </a:p>
        </p:txBody>
      </p:sp>
      <p:sp>
        <p:nvSpPr>
          <p:cNvPr id="31" name="Shape 24"/>
          <p:cNvSpPr/>
          <p:nvPr/>
        </p:nvSpPr>
        <p:spPr>
          <a:xfrm>
            <a:off x="3877056" y="5705856"/>
            <a:ext cx="109728" cy="109728"/>
          </a:xfrm>
          <a:prstGeom prst="line">
            <a:avLst/>
          </a:prstGeom>
          <a:solidFill>
            <a:srgbClr val="1A6CF0"/>
          </a:solidFill>
          <a:ln w="12700">
            <a:solidFill>
              <a:srgbClr val="1A6CF0"/>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438912" y="5504688"/>
            <a:ext cx="329184" cy="329184"/>
          </a:xfrm>
          <a:prstGeom prst="rect">
            <a:avLst/>
          </a:prstGeom>
        </p:spPr>
      </p:pic>
      <p:sp>
        <p:nvSpPr>
          <p:cNvPr id="33" name="Text 25"/>
          <p:cNvSpPr/>
          <p:nvPr/>
        </p:nvSpPr>
        <p:spPr>
          <a:xfrm>
            <a:off x="420624" y="5897880"/>
            <a:ext cx="2468880" cy="256032"/>
          </a:xfrm>
          <a:prstGeom prst="rect">
            <a:avLst/>
          </a:prstGeom>
          <a:noFill/>
          <a:ln/>
        </p:spPr>
        <p:txBody>
          <a:bodyPr wrap="square" lIns="0" tIns="0" rIns="0" bIns="0" rtlCol="0" anchor="ctr"/>
          <a:lstStyle/>
          <a:p>
            <a:pPr marL="0" indent="0">
              <a:buNone/>
            </a:pPr>
            <a:r>
              <a:rPr lang="en-US" sz="1080" b="1" dirty="0">
                <a:solidFill>
                  <a:srgbClr val="EDF3FA"/>
                </a:solidFill>
                <a:latin typeface="Calibri" pitchFamily="34" charset="0"/>
                <a:ea typeface="Calibri" pitchFamily="34" charset="-122"/>
                <a:cs typeface="Calibri" pitchFamily="34" charset="-120"/>
              </a:rPr>
              <a:t>Remote Monitoring</a:t>
            </a:r>
            <a:endParaRPr lang="en-US" sz="1080" dirty="0"/>
          </a:p>
        </p:txBody>
      </p:sp>
      <p:sp>
        <p:nvSpPr>
          <p:cNvPr id="34" name="Text 26"/>
          <p:cNvSpPr/>
          <p:nvPr/>
        </p:nvSpPr>
        <p:spPr>
          <a:xfrm>
            <a:off x="420624" y="6126480"/>
            <a:ext cx="2468880" cy="219456"/>
          </a:xfrm>
          <a:prstGeom prst="rect">
            <a:avLst/>
          </a:prstGeom>
          <a:noFill/>
          <a:ln/>
        </p:spPr>
        <p:txBody>
          <a:bodyPr wrap="square" lIns="0" tIns="0" rIns="0" bIns="0" rtlCol="0" anchor="ctr"/>
          <a:lstStyle/>
          <a:p>
            <a:pPr marL="0" indent="0">
              <a:buNone/>
            </a:pPr>
            <a:r>
              <a:rPr lang="en-US" sz="900" dirty="0">
                <a:solidFill>
                  <a:srgbClr val="8090A2"/>
                </a:solidFill>
                <a:latin typeface="Calibri" pitchFamily="34" charset="0"/>
                <a:ea typeface="Calibri" pitchFamily="34" charset="-122"/>
                <a:cs typeface="Calibri" pitchFamily="34" charset="-120"/>
              </a:rPr>
              <a:t>Cloud dashboard, real-time control</a:t>
            </a:r>
            <a:endParaRPr lang="en-US" sz="900" dirty="0"/>
          </a:p>
        </p:txBody>
      </p:sp>
      <p:sp>
        <p:nvSpPr>
          <p:cNvPr id="35" name="Shape 27"/>
          <p:cNvSpPr/>
          <p:nvPr/>
        </p:nvSpPr>
        <p:spPr>
          <a:xfrm>
            <a:off x="9217152" y="1600200"/>
            <a:ext cx="2651760" cy="96012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36" name="Shape 28"/>
          <p:cNvSpPr/>
          <p:nvPr/>
        </p:nvSpPr>
        <p:spPr>
          <a:xfrm>
            <a:off x="8229600" y="1965960"/>
            <a:ext cx="987552" cy="0"/>
          </a:xfrm>
          <a:prstGeom prst="line">
            <a:avLst/>
          </a:prstGeom>
          <a:noFill/>
          <a:ln w="12700">
            <a:solidFill>
              <a:srgbClr val="1A6CF0">
                <a:alpha val="65000"/>
              </a:srgbClr>
            </a:solidFill>
            <a:prstDash val="solid"/>
          </a:ln>
        </p:spPr>
        <p:txBody>
          <a:bodyPr/>
          <a:lstStyle/>
          <a:p>
            <a:endParaRPr lang="en-US"/>
          </a:p>
        </p:txBody>
      </p:sp>
      <p:sp>
        <p:nvSpPr>
          <p:cNvPr id="37" name="Shape 29"/>
          <p:cNvSpPr/>
          <p:nvPr/>
        </p:nvSpPr>
        <p:spPr>
          <a:xfrm>
            <a:off x="8174736" y="1911096"/>
            <a:ext cx="109728" cy="109728"/>
          </a:xfrm>
          <a:prstGeom prst="line">
            <a:avLst/>
          </a:prstGeom>
          <a:solidFill>
            <a:srgbClr val="1A6CF0"/>
          </a:solidFill>
          <a:ln w="12700">
            <a:solidFill>
              <a:srgbClr val="1A6CF0"/>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9363456" y="1709928"/>
            <a:ext cx="329184" cy="329184"/>
          </a:xfrm>
          <a:prstGeom prst="rect">
            <a:avLst/>
          </a:prstGeom>
        </p:spPr>
      </p:pic>
      <p:sp>
        <p:nvSpPr>
          <p:cNvPr id="39" name="Text 30"/>
          <p:cNvSpPr/>
          <p:nvPr/>
        </p:nvSpPr>
        <p:spPr>
          <a:xfrm>
            <a:off x="9345168" y="2103120"/>
            <a:ext cx="2468880" cy="256032"/>
          </a:xfrm>
          <a:prstGeom prst="rect">
            <a:avLst/>
          </a:prstGeom>
          <a:noFill/>
          <a:ln/>
        </p:spPr>
        <p:txBody>
          <a:bodyPr wrap="square" lIns="0" tIns="0" rIns="0" bIns="0" rtlCol="0" anchor="ctr"/>
          <a:lstStyle/>
          <a:p>
            <a:pPr marL="0" indent="0">
              <a:buNone/>
            </a:pPr>
            <a:r>
              <a:rPr lang="en-US" sz="1080" b="1" dirty="0">
                <a:solidFill>
                  <a:srgbClr val="EDF3FA"/>
                </a:solidFill>
                <a:latin typeface="Calibri" pitchFamily="34" charset="0"/>
                <a:ea typeface="Calibri" pitchFamily="34" charset="-122"/>
                <a:cs typeface="Calibri" pitchFamily="34" charset="-120"/>
              </a:rPr>
              <a:t>Emergency SOS Button</a:t>
            </a:r>
            <a:endParaRPr lang="en-US" sz="1080" dirty="0"/>
          </a:p>
        </p:txBody>
      </p:sp>
      <p:sp>
        <p:nvSpPr>
          <p:cNvPr id="40" name="Text 31"/>
          <p:cNvSpPr/>
          <p:nvPr/>
        </p:nvSpPr>
        <p:spPr>
          <a:xfrm>
            <a:off x="9345168" y="2331720"/>
            <a:ext cx="2468880" cy="219456"/>
          </a:xfrm>
          <a:prstGeom prst="rect">
            <a:avLst/>
          </a:prstGeom>
          <a:noFill/>
          <a:ln/>
        </p:spPr>
        <p:txBody>
          <a:bodyPr wrap="square" lIns="0" tIns="0" rIns="0" bIns="0" rtlCol="0" anchor="ctr"/>
          <a:lstStyle/>
          <a:p>
            <a:pPr marL="0" indent="0">
              <a:buNone/>
            </a:pPr>
            <a:r>
              <a:rPr lang="en-US" sz="900" dirty="0">
                <a:solidFill>
                  <a:srgbClr val="8090A2"/>
                </a:solidFill>
                <a:latin typeface="Calibri" pitchFamily="34" charset="0"/>
                <a:ea typeface="Calibri" pitchFamily="34" charset="-122"/>
                <a:cs typeface="Calibri" pitchFamily="34" charset="-120"/>
              </a:rPr>
              <a:t>IP67 physical button, live operator</a:t>
            </a:r>
            <a:endParaRPr lang="en-US" sz="900" dirty="0"/>
          </a:p>
        </p:txBody>
      </p:sp>
      <p:sp>
        <p:nvSpPr>
          <p:cNvPr id="41" name="Shape 32"/>
          <p:cNvSpPr/>
          <p:nvPr/>
        </p:nvSpPr>
        <p:spPr>
          <a:xfrm>
            <a:off x="9217152" y="2834640"/>
            <a:ext cx="2651760" cy="96012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42" name="Shape 33"/>
          <p:cNvSpPr/>
          <p:nvPr/>
        </p:nvSpPr>
        <p:spPr>
          <a:xfrm>
            <a:off x="8229600" y="3200400"/>
            <a:ext cx="987552" cy="0"/>
          </a:xfrm>
          <a:prstGeom prst="line">
            <a:avLst/>
          </a:prstGeom>
          <a:noFill/>
          <a:ln w="12700">
            <a:solidFill>
              <a:srgbClr val="1A6CF0">
                <a:alpha val="65000"/>
              </a:srgbClr>
            </a:solidFill>
            <a:prstDash val="solid"/>
          </a:ln>
        </p:spPr>
        <p:txBody>
          <a:bodyPr/>
          <a:lstStyle/>
          <a:p>
            <a:endParaRPr lang="en-US"/>
          </a:p>
        </p:txBody>
      </p:sp>
      <p:sp>
        <p:nvSpPr>
          <p:cNvPr id="43" name="Shape 34"/>
          <p:cNvSpPr/>
          <p:nvPr/>
        </p:nvSpPr>
        <p:spPr>
          <a:xfrm>
            <a:off x="8174736" y="3145536"/>
            <a:ext cx="109728" cy="109728"/>
          </a:xfrm>
          <a:prstGeom prst="line">
            <a:avLst/>
          </a:prstGeom>
          <a:solidFill>
            <a:srgbClr val="1A6CF0"/>
          </a:solidFill>
          <a:ln w="12700">
            <a:solidFill>
              <a:srgbClr val="1A6CF0"/>
            </a:solidFill>
            <a:prstDash val="solid"/>
          </a:ln>
        </p:spPr>
        <p:txBody>
          <a:bodyPr/>
          <a:lstStyle/>
          <a:p>
            <a:endParaRPr lang="en-US"/>
          </a:p>
        </p:txBody>
      </p:sp>
      <p:pic>
        <p:nvPicPr>
          <p:cNvPr id="44" name="Image 7" descr="preencoded.png"/>
          <p:cNvPicPr>
            <a:picLocks noChangeAspect="1"/>
          </p:cNvPicPr>
          <p:nvPr/>
        </p:nvPicPr>
        <p:blipFill>
          <a:blip r:embed="rId10"/>
          <a:stretch>
            <a:fillRect/>
          </a:stretch>
        </p:blipFill>
        <p:spPr>
          <a:xfrm>
            <a:off x="9363456" y="2944368"/>
            <a:ext cx="329184" cy="329184"/>
          </a:xfrm>
          <a:prstGeom prst="rect">
            <a:avLst/>
          </a:prstGeom>
        </p:spPr>
      </p:pic>
      <p:sp>
        <p:nvSpPr>
          <p:cNvPr id="45" name="Text 35"/>
          <p:cNvSpPr/>
          <p:nvPr/>
        </p:nvSpPr>
        <p:spPr>
          <a:xfrm>
            <a:off x="9345168" y="3337560"/>
            <a:ext cx="2468880" cy="256032"/>
          </a:xfrm>
          <a:prstGeom prst="rect">
            <a:avLst/>
          </a:prstGeom>
          <a:noFill/>
          <a:ln/>
        </p:spPr>
        <p:txBody>
          <a:bodyPr wrap="square" lIns="0" tIns="0" rIns="0" bIns="0" rtlCol="0" anchor="ctr"/>
          <a:lstStyle/>
          <a:p>
            <a:pPr marL="0" indent="0">
              <a:buNone/>
            </a:pPr>
            <a:r>
              <a:rPr lang="en-US" sz="1080" b="1" dirty="0">
                <a:solidFill>
                  <a:srgbClr val="EDF3FA"/>
                </a:solidFill>
                <a:latin typeface="Calibri" pitchFamily="34" charset="0"/>
                <a:ea typeface="Calibri" pitchFamily="34" charset="-122"/>
                <a:cs typeface="Calibri" pitchFamily="34" charset="-120"/>
              </a:rPr>
              <a:t>Two-Way Communication</a:t>
            </a:r>
            <a:endParaRPr lang="en-US" sz="1080" dirty="0"/>
          </a:p>
        </p:txBody>
      </p:sp>
      <p:sp>
        <p:nvSpPr>
          <p:cNvPr id="46" name="Text 36"/>
          <p:cNvSpPr/>
          <p:nvPr/>
        </p:nvSpPr>
        <p:spPr>
          <a:xfrm>
            <a:off x="9345168" y="3566160"/>
            <a:ext cx="2468880" cy="219456"/>
          </a:xfrm>
          <a:prstGeom prst="rect">
            <a:avLst/>
          </a:prstGeom>
          <a:noFill/>
          <a:ln/>
        </p:spPr>
        <p:txBody>
          <a:bodyPr wrap="square" lIns="0" tIns="0" rIns="0" bIns="0" rtlCol="0" anchor="ctr"/>
          <a:lstStyle/>
          <a:p>
            <a:pPr marL="0" indent="0">
              <a:buNone/>
            </a:pPr>
            <a:r>
              <a:rPr lang="en-US" sz="900" dirty="0">
                <a:solidFill>
                  <a:srgbClr val="8090A2"/>
                </a:solidFill>
                <a:latin typeface="Calibri" pitchFamily="34" charset="0"/>
                <a:ea typeface="Calibri" pitchFamily="34" charset="-122"/>
                <a:cs typeface="Calibri" pitchFamily="34" charset="-120"/>
              </a:rPr>
              <a:t>Live audio and video to responders</a:t>
            </a:r>
            <a:endParaRPr lang="en-US" sz="900" dirty="0"/>
          </a:p>
        </p:txBody>
      </p:sp>
      <p:sp>
        <p:nvSpPr>
          <p:cNvPr id="47" name="Shape 37"/>
          <p:cNvSpPr/>
          <p:nvPr/>
        </p:nvSpPr>
        <p:spPr>
          <a:xfrm>
            <a:off x="9217152" y="4160520"/>
            <a:ext cx="2651760" cy="96012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48" name="Shape 38"/>
          <p:cNvSpPr/>
          <p:nvPr/>
        </p:nvSpPr>
        <p:spPr>
          <a:xfrm>
            <a:off x="8229600" y="4526280"/>
            <a:ext cx="987552" cy="0"/>
          </a:xfrm>
          <a:prstGeom prst="line">
            <a:avLst/>
          </a:prstGeom>
          <a:noFill/>
          <a:ln w="12700">
            <a:solidFill>
              <a:srgbClr val="1A6CF0">
                <a:alpha val="65000"/>
              </a:srgbClr>
            </a:solidFill>
            <a:prstDash val="solid"/>
          </a:ln>
        </p:spPr>
        <p:txBody>
          <a:bodyPr/>
          <a:lstStyle/>
          <a:p>
            <a:endParaRPr lang="en-US"/>
          </a:p>
        </p:txBody>
      </p:sp>
      <p:sp>
        <p:nvSpPr>
          <p:cNvPr id="49" name="Shape 39"/>
          <p:cNvSpPr/>
          <p:nvPr/>
        </p:nvSpPr>
        <p:spPr>
          <a:xfrm>
            <a:off x="8174736" y="4471416"/>
            <a:ext cx="109728" cy="109728"/>
          </a:xfrm>
          <a:prstGeom prst="line">
            <a:avLst/>
          </a:prstGeom>
          <a:solidFill>
            <a:srgbClr val="1A6CF0"/>
          </a:solidFill>
          <a:ln w="12700">
            <a:solidFill>
              <a:srgbClr val="1A6CF0"/>
            </a:solidFill>
            <a:prstDash val="solid"/>
          </a:ln>
        </p:spPr>
        <p:txBody>
          <a:bodyPr/>
          <a:lstStyle/>
          <a:p>
            <a:endParaRPr lang="en-US"/>
          </a:p>
        </p:txBody>
      </p:sp>
      <p:pic>
        <p:nvPicPr>
          <p:cNvPr id="50" name="Image 8" descr="preencoded.png"/>
          <p:cNvPicPr>
            <a:picLocks noChangeAspect="1"/>
          </p:cNvPicPr>
          <p:nvPr/>
        </p:nvPicPr>
        <p:blipFill>
          <a:blip r:embed="rId11"/>
          <a:stretch>
            <a:fillRect/>
          </a:stretch>
        </p:blipFill>
        <p:spPr>
          <a:xfrm>
            <a:off x="9363456" y="4270248"/>
            <a:ext cx="329184" cy="329184"/>
          </a:xfrm>
          <a:prstGeom prst="rect">
            <a:avLst/>
          </a:prstGeom>
        </p:spPr>
      </p:pic>
      <p:sp>
        <p:nvSpPr>
          <p:cNvPr id="51" name="Text 40"/>
          <p:cNvSpPr/>
          <p:nvPr/>
        </p:nvSpPr>
        <p:spPr>
          <a:xfrm>
            <a:off x="9345168" y="4663440"/>
            <a:ext cx="2468880" cy="256032"/>
          </a:xfrm>
          <a:prstGeom prst="rect">
            <a:avLst/>
          </a:prstGeom>
          <a:noFill/>
          <a:ln/>
        </p:spPr>
        <p:txBody>
          <a:bodyPr wrap="square" lIns="0" tIns="0" rIns="0" bIns="0" rtlCol="0" anchor="ctr"/>
          <a:lstStyle/>
          <a:p>
            <a:pPr marL="0" indent="0">
              <a:buNone/>
            </a:pPr>
            <a:r>
              <a:rPr lang="en-US" sz="1080" b="1" dirty="0">
                <a:solidFill>
                  <a:srgbClr val="EDF3FA"/>
                </a:solidFill>
                <a:latin typeface="Calibri" pitchFamily="34" charset="0"/>
                <a:ea typeface="Calibri" pitchFamily="34" charset="-122"/>
                <a:cs typeface="Calibri" pitchFamily="34" charset="-120"/>
              </a:rPr>
              <a:t>All-Weather Design</a:t>
            </a:r>
            <a:endParaRPr lang="en-US" sz="1080" dirty="0"/>
          </a:p>
        </p:txBody>
      </p:sp>
      <p:sp>
        <p:nvSpPr>
          <p:cNvPr id="52" name="Text 41"/>
          <p:cNvSpPr/>
          <p:nvPr/>
        </p:nvSpPr>
        <p:spPr>
          <a:xfrm>
            <a:off x="9345168" y="4892040"/>
            <a:ext cx="2468880" cy="219456"/>
          </a:xfrm>
          <a:prstGeom prst="rect">
            <a:avLst/>
          </a:prstGeom>
          <a:noFill/>
          <a:ln/>
        </p:spPr>
        <p:txBody>
          <a:bodyPr wrap="square" lIns="0" tIns="0" rIns="0" bIns="0" rtlCol="0" anchor="ctr"/>
          <a:lstStyle/>
          <a:p>
            <a:pPr marL="0" indent="0">
              <a:buNone/>
            </a:pPr>
            <a:r>
              <a:rPr lang="en-US" sz="900" dirty="0">
                <a:solidFill>
                  <a:srgbClr val="8090A2"/>
                </a:solidFill>
                <a:latin typeface="Calibri" pitchFamily="34" charset="0"/>
                <a:ea typeface="Calibri" pitchFamily="34" charset="-122"/>
                <a:cs typeface="Calibri" pitchFamily="34" charset="-120"/>
              </a:rPr>
              <a:t>Built for continuous outdoor use</a:t>
            </a:r>
            <a:endParaRPr lang="en-US" sz="900" dirty="0"/>
          </a:p>
        </p:txBody>
      </p:sp>
      <p:sp>
        <p:nvSpPr>
          <p:cNvPr id="53" name="Shape 42"/>
          <p:cNvSpPr/>
          <p:nvPr/>
        </p:nvSpPr>
        <p:spPr>
          <a:xfrm>
            <a:off x="9217152" y="5394960"/>
            <a:ext cx="2651760" cy="96012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54" name="Shape 43"/>
          <p:cNvSpPr/>
          <p:nvPr/>
        </p:nvSpPr>
        <p:spPr>
          <a:xfrm>
            <a:off x="8229600" y="5760720"/>
            <a:ext cx="987552" cy="0"/>
          </a:xfrm>
          <a:prstGeom prst="line">
            <a:avLst/>
          </a:prstGeom>
          <a:noFill/>
          <a:ln w="12700">
            <a:solidFill>
              <a:srgbClr val="1A6CF0">
                <a:alpha val="65000"/>
              </a:srgbClr>
            </a:solidFill>
            <a:prstDash val="solid"/>
          </a:ln>
        </p:spPr>
        <p:txBody>
          <a:bodyPr/>
          <a:lstStyle/>
          <a:p>
            <a:endParaRPr lang="en-US"/>
          </a:p>
        </p:txBody>
      </p:sp>
      <p:sp>
        <p:nvSpPr>
          <p:cNvPr id="55" name="Shape 44"/>
          <p:cNvSpPr/>
          <p:nvPr/>
        </p:nvSpPr>
        <p:spPr>
          <a:xfrm>
            <a:off x="8174736" y="5705856"/>
            <a:ext cx="109728" cy="109728"/>
          </a:xfrm>
          <a:prstGeom prst="line">
            <a:avLst/>
          </a:prstGeom>
          <a:solidFill>
            <a:srgbClr val="1A6CF0"/>
          </a:solidFill>
          <a:ln w="12700">
            <a:solidFill>
              <a:srgbClr val="1A6CF0"/>
            </a:solidFill>
            <a:prstDash val="solid"/>
          </a:ln>
        </p:spPr>
        <p:txBody>
          <a:bodyPr/>
          <a:lstStyle/>
          <a:p>
            <a:endParaRPr lang="en-US"/>
          </a:p>
        </p:txBody>
      </p:sp>
      <p:pic>
        <p:nvPicPr>
          <p:cNvPr id="56" name="Image 9" descr="preencoded.png"/>
          <p:cNvPicPr>
            <a:picLocks noChangeAspect="1"/>
          </p:cNvPicPr>
          <p:nvPr/>
        </p:nvPicPr>
        <p:blipFill>
          <a:blip r:embed="rId12"/>
          <a:stretch>
            <a:fillRect/>
          </a:stretch>
        </p:blipFill>
        <p:spPr>
          <a:xfrm>
            <a:off x="9363456" y="5504688"/>
            <a:ext cx="329184" cy="329184"/>
          </a:xfrm>
          <a:prstGeom prst="rect">
            <a:avLst/>
          </a:prstGeom>
        </p:spPr>
      </p:pic>
      <p:sp>
        <p:nvSpPr>
          <p:cNvPr id="57" name="Text 45"/>
          <p:cNvSpPr/>
          <p:nvPr/>
        </p:nvSpPr>
        <p:spPr>
          <a:xfrm>
            <a:off x="9345168" y="5897880"/>
            <a:ext cx="2468880" cy="256032"/>
          </a:xfrm>
          <a:prstGeom prst="rect">
            <a:avLst/>
          </a:prstGeom>
          <a:noFill/>
          <a:ln/>
        </p:spPr>
        <p:txBody>
          <a:bodyPr wrap="square" lIns="0" tIns="0" rIns="0" bIns="0" rtlCol="0" anchor="ctr"/>
          <a:lstStyle/>
          <a:p>
            <a:pPr marL="0" indent="0">
              <a:buNone/>
            </a:pPr>
            <a:r>
              <a:rPr lang="en-US" sz="1080" b="1" dirty="0">
                <a:solidFill>
                  <a:srgbClr val="EDF3FA"/>
                </a:solidFill>
                <a:latin typeface="Calibri" pitchFamily="34" charset="0"/>
                <a:ea typeface="Calibri" pitchFamily="34" charset="-122"/>
                <a:cs typeface="Calibri" pitchFamily="34" charset="-120"/>
              </a:rPr>
              <a:t>4G and WiFi Connected</a:t>
            </a:r>
            <a:endParaRPr lang="en-US" sz="1080" dirty="0"/>
          </a:p>
        </p:txBody>
      </p:sp>
      <p:sp>
        <p:nvSpPr>
          <p:cNvPr id="58" name="Text 46"/>
          <p:cNvSpPr/>
          <p:nvPr/>
        </p:nvSpPr>
        <p:spPr>
          <a:xfrm>
            <a:off x="9345168" y="6126480"/>
            <a:ext cx="2468880" cy="219456"/>
          </a:xfrm>
          <a:prstGeom prst="rect">
            <a:avLst/>
          </a:prstGeom>
          <a:noFill/>
          <a:ln/>
        </p:spPr>
        <p:txBody>
          <a:bodyPr wrap="square" lIns="0" tIns="0" rIns="0" bIns="0" rtlCol="0" anchor="ctr"/>
          <a:lstStyle/>
          <a:p>
            <a:pPr marL="0" indent="0">
              <a:buNone/>
            </a:pPr>
            <a:r>
              <a:rPr lang="en-US" sz="900" dirty="0">
                <a:solidFill>
                  <a:srgbClr val="8090A2"/>
                </a:solidFill>
                <a:latin typeface="Calibri" pitchFamily="34" charset="0"/>
                <a:ea typeface="Calibri" pitchFamily="34" charset="-122"/>
                <a:cs typeface="Calibri" pitchFamily="34" charset="-120"/>
              </a:rPr>
              <a:t>Always-on cloud connectivity</a:t>
            </a:r>
            <a:endParaRPr lang="en-US" sz="900" dirty="0"/>
          </a:p>
        </p:txBody>
      </p:sp>
      <p:sp>
        <p:nvSpPr>
          <p:cNvPr id="59" name="Shape 47"/>
          <p:cNvSpPr/>
          <p:nvPr/>
        </p:nvSpPr>
        <p:spPr>
          <a:xfrm>
            <a:off x="0" y="6620256"/>
            <a:ext cx="12161520" cy="237744"/>
          </a:xfrm>
          <a:prstGeom prst="rect">
            <a:avLst/>
          </a:prstGeom>
          <a:solidFill>
            <a:srgbClr val="07090D"/>
          </a:solidFill>
          <a:ln w="12700">
            <a:solidFill>
              <a:srgbClr val="07090D"/>
            </a:solidFill>
            <a:prstDash val="solid"/>
          </a:ln>
        </p:spPr>
        <p:txBody>
          <a:bodyPr/>
          <a:lstStyle/>
          <a:p>
            <a:endParaRPr lang="en-US"/>
          </a:p>
        </p:txBody>
      </p:sp>
      <p:sp>
        <p:nvSpPr>
          <p:cNvPr id="60" name="Text 48"/>
          <p:cNvSpPr/>
          <p:nvPr/>
        </p:nvSpPr>
        <p:spPr>
          <a:xfrm>
            <a:off x="0" y="6656832"/>
            <a:ext cx="12161520" cy="164592"/>
          </a:xfrm>
          <a:prstGeom prst="rect">
            <a:avLst/>
          </a:prstGeom>
          <a:noFill/>
          <a:ln/>
        </p:spPr>
        <p:txBody>
          <a:bodyPr wrap="square" lIns="0" tIns="0" rIns="0" bIns="0" rtlCol="0" anchor="ctr"/>
          <a:lstStyle/>
          <a:p>
            <a:pPr marL="0" indent="0" algn="ctr">
              <a:buNone/>
            </a:pPr>
            <a:r>
              <a:rPr lang="en-US" sz="700" dirty="0">
                <a:solidFill>
                  <a:srgbClr val="243040"/>
                </a:solidFill>
                <a:latin typeface="Calibri" pitchFamily="34" charset="0"/>
                <a:ea typeface="Calibri" pitchFamily="34" charset="-122"/>
                <a:cs typeface="Calibri" pitchFamily="34" charset="-120"/>
              </a:rPr>
              <a:t>prahari-official.vercel.app   vasudeepkohli@gmail.com   +91 77809 87246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9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7090D"/>
          </a:solidFill>
          <a:ln w="12700">
            <a:solidFill>
              <a:srgbClr val="07090D"/>
            </a:solidFill>
            <a:prstDash val="solid"/>
          </a:ln>
        </p:spPr>
        <p:txBody>
          <a:bodyPr/>
          <a:lstStyle/>
          <a:p>
            <a:endParaRPr lang="en-US"/>
          </a:p>
        </p:txBody>
      </p:sp>
      <p:sp>
        <p:nvSpPr>
          <p:cNvPr id="3" name="Shape 1"/>
          <p:cNvSpPr/>
          <p:nvPr/>
        </p:nvSpPr>
        <p:spPr>
          <a:xfrm>
            <a:off x="0" y="594360"/>
            <a:ext cx="886968" cy="6263640"/>
          </a:xfrm>
          <a:prstGeom prst="rect">
            <a:avLst/>
          </a:prstGeom>
          <a:solidFill>
            <a:srgbClr val="120E03">
              <a:alpha val="88000"/>
            </a:srgbClr>
          </a:solidFill>
          <a:ln w="12700">
            <a:solidFill>
              <a:srgbClr val="120E03">
                <a:alpha val="88000"/>
              </a:srgbClr>
            </a:solidFill>
            <a:prstDash val="solid"/>
          </a:ln>
        </p:spPr>
        <p:txBody>
          <a:bodyPr/>
          <a:lstStyle/>
          <a:p>
            <a:endParaRPr lang="en-US"/>
          </a:p>
        </p:txBody>
      </p:sp>
      <p:sp>
        <p:nvSpPr>
          <p:cNvPr id="4" name="Shape 2"/>
          <p:cNvSpPr/>
          <p:nvPr/>
        </p:nvSpPr>
        <p:spPr>
          <a:xfrm>
            <a:off x="868680" y="594360"/>
            <a:ext cx="886968" cy="6263640"/>
          </a:xfrm>
          <a:prstGeom prst="rect">
            <a:avLst/>
          </a:prstGeom>
          <a:solidFill>
            <a:srgbClr val="120E03">
              <a:alpha val="63000"/>
            </a:srgbClr>
          </a:solidFill>
          <a:ln w="12700">
            <a:solidFill>
              <a:srgbClr val="120E03">
                <a:alpha val="63000"/>
              </a:srgbClr>
            </a:solidFill>
            <a:prstDash val="solid"/>
          </a:ln>
        </p:spPr>
        <p:txBody>
          <a:bodyPr/>
          <a:lstStyle/>
          <a:p>
            <a:endParaRPr lang="en-US"/>
          </a:p>
        </p:txBody>
      </p:sp>
      <p:sp>
        <p:nvSpPr>
          <p:cNvPr id="5" name="Shape 3"/>
          <p:cNvSpPr/>
          <p:nvPr/>
        </p:nvSpPr>
        <p:spPr>
          <a:xfrm>
            <a:off x="1737360" y="594360"/>
            <a:ext cx="886968" cy="6263640"/>
          </a:xfrm>
          <a:prstGeom prst="rect">
            <a:avLst/>
          </a:prstGeom>
          <a:solidFill>
            <a:srgbClr val="120E03">
              <a:alpha val="42000"/>
            </a:srgbClr>
          </a:solidFill>
          <a:ln w="12700">
            <a:solidFill>
              <a:srgbClr val="120E03">
                <a:alpha val="42000"/>
              </a:srgbClr>
            </a:solidFill>
            <a:prstDash val="solid"/>
          </a:ln>
        </p:spPr>
        <p:txBody>
          <a:bodyPr/>
          <a:lstStyle/>
          <a:p>
            <a:endParaRPr lang="en-US"/>
          </a:p>
        </p:txBody>
      </p:sp>
      <p:sp>
        <p:nvSpPr>
          <p:cNvPr id="6" name="Shape 4"/>
          <p:cNvSpPr/>
          <p:nvPr/>
        </p:nvSpPr>
        <p:spPr>
          <a:xfrm>
            <a:off x="2606040" y="594360"/>
            <a:ext cx="886968" cy="6263640"/>
          </a:xfrm>
          <a:prstGeom prst="rect">
            <a:avLst/>
          </a:prstGeom>
          <a:solidFill>
            <a:srgbClr val="120E03">
              <a:alpha val="26000"/>
            </a:srgbClr>
          </a:solidFill>
          <a:ln w="12700">
            <a:solidFill>
              <a:srgbClr val="120E03">
                <a:alpha val="26000"/>
              </a:srgbClr>
            </a:solidFill>
            <a:prstDash val="solid"/>
          </a:ln>
        </p:spPr>
        <p:txBody>
          <a:bodyPr/>
          <a:lstStyle/>
          <a:p>
            <a:endParaRPr lang="en-US"/>
          </a:p>
        </p:txBody>
      </p:sp>
      <p:sp>
        <p:nvSpPr>
          <p:cNvPr id="7" name="Shape 5"/>
          <p:cNvSpPr/>
          <p:nvPr/>
        </p:nvSpPr>
        <p:spPr>
          <a:xfrm>
            <a:off x="3474720" y="594360"/>
            <a:ext cx="886968" cy="6263640"/>
          </a:xfrm>
          <a:prstGeom prst="rect">
            <a:avLst/>
          </a:prstGeom>
          <a:solidFill>
            <a:srgbClr val="120E03">
              <a:alpha val="13000"/>
            </a:srgbClr>
          </a:solidFill>
          <a:ln w="12700">
            <a:solidFill>
              <a:srgbClr val="120E03">
                <a:alpha val="13000"/>
              </a:srgbClr>
            </a:solidFill>
            <a:prstDash val="solid"/>
          </a:ln>
        </p:spPr>
        <p:txBody>
          <a:bodyPr/>
          <a:lstStyle/>
          <a:p>
            <a:endParaRPr lang="en-US"/>
          </a:p>
        </p:txBody>
      </p:sp>
      <p:sp>
        <p:nvSpPr>
          <p:cNvPr id="8" name="Shape 6"/>
          <p:cNvSpPr/>
          <p:nvPr/>
        </p:nvSpPr>
        <p:spPr>
          <a:xfrm>
            <a:off x="4343400" y="594360"/>
            <a:ext cx="886968" cy="6263640"/>
          </a:xfrm>
          <a:prstGeom prst="rect">
            <a:avLst/>
          </a:prstGeom>
          <a:solidFill>
            <a:srgbClr val="120E03">
              <a:alpha val="5000"/>
            </a:srgbClr>
          </a:solidFill>
          <a:ln w="12700">
            <a:solidFill>
              <a:srgbClr val="120E03">
                <a:alpha val="5000"/>
              </a:srgbClr>
            </a:solidFill>
            <a:prstDash val="solid"/>
          </a:ln>
        </p:spPr>
        <p:txBody>
          <a:bodyPr/>
          <a:lstStyle/>
          <a:p>
            <a:endParaRPr lang="en-US"/>
          </a:p>
        </p:txBody>
      </p:sp>
      <p:sp>
        <p:nvSpPr>
          <p:cNvPr id="9" name="Shape 7"/>
          <p:cNvSpPr/>
          <p:nvPr/>
        </p:nvSpPr>
        <p:spPr>
          <a:xfrm>
            <a:off x="6949440" y="594360"/>
            <a:ext cx="886968" cy="6263640"/>
          </a:xfrm>
          <a:prstGeom prst="rect">
            <a:avLst/>
          </a:prstGeom>
          <a:solidFill>
            <a:srgbClr val="060912">
              <a:alpha val="5000"/>
            </a:srgbClr>
          </a:solidFill>
          <a:ln w="12700">
            <a:solidFill>
              <a:srgbClr val="060912">
                <a:alpha val="5000"/>
              </a:srgbClr>
            </a:solidFill>
            <a:prstDash val="solid"/>
          </a:ln>
        </p:spPr>
        <p:txBody>
          <a:bodyPr/>
          <a:lstStyle/>
          <a:p>
            <a:endParaRPr lang="en-US"/>
          </a:p>
        </p:txBody>
      </p:sp>
      <p:sp>
        <p:nvSpPr>
          <p:cNvPr id="10" name="Shape 8"/>
          <p:cNvSpPr/>
          <p:nvPr/>
        </p:nvSpPr>
        <p:spPr>
          <a:xfrm>
            <a:off x="7818120" y="594360"/>
            <a:ext cx="886968" cy="6263640"/>
          </a:xfrm>
          <a:prstGeom prst="rect">
            <a:avLst/>
          </a:prstGeom>
          <a:solidFill>
            <a:srgbClr val="060912">
              <a:alpha val="13000"/>
            </a:srgbClr>
          </a:solidFill>
          <a:ln w="12700">
            <a:solidFill>
              <a:srgbClr val="060912">
                <a:alpha val="13000"/>
              </a:srgbClr>
            </a:solidFill>
            <a:prstDash val="solid"/>
          </a:ln>
        </p:spPr>
        <p:txBody>
          <a:bodyPr/>
          <a:lstStyle/>
          <a:p>
            <a:endParaRPr lang="en-US"/>
          </a:p>
        </p:txBody>
      </p:sp>
      <p:sp>
        <p:nvSpPr>
          <p:cNvPr id="11" name="Shape 9"/>
          <p:cNvSpPr/>
          <p:nvPr/>
        </p:nvSpPr>
        <p:spPr>
          <a:xfrm>
            <a:off x="8686800" y="594360"/>
            <a:ext cx="886968" cy="6263640"/>
          </a:xfrm>
          <a:prstGeom prst="rect">
            <a:avLst/>
          </a:prstGeom>
          <a:solidFill>
            <a:srgbClr val="060912">
              <a:alpha val="26000"/>
            </a:srgbClr>
          </a:solidFill>
          <a:ln w="12700">
            <a:solidFill>
              <a:srgbClr val="060912">
                <a:alpha val="26000"/>
              </a:srgbClr>
            </a:solidFill>
            <a:prstDash val="solid"/>
          </a:ln>
        </p:spPr>
        <p:txBody>
          <a:bodyPr/>
          <a:lstStyle/>
          <a:p>
            <a:endParaRPr lang="en-US"/>
          </a:p>
        </p:txBody>
      </p:sp>
      <p:sp>
        <p:nvSpPr>
          <p:cNvPr id="12" name="Shape 10"/>
          <p:cNvSpPr/>
          <p:nvPr/>
        </p:nvSpPr>
        <p:spPr>
          <a:xfrm>
            <a:off x="9555480" y="594360"/>
            <a:ext cx="886968" cy="6263640"/>
          </a:xfrm>
          <a:prstGeom prst="rect">
            <a:avLst/>
          </a:prstGeom>
          <a:solidFill>
            <a:srgbClr val="060912">
              <a:alpha val="42000"/>
            </a:srgbClr>
          </a:solidFill>
          <a:ln w="12700">
            <a:solidFill>
              <a:srgbClr val="060912">
                <a:alpha val="42000"/>
              </a:srgbClr>
            </a:solidFill>
            <a:prstDash val="solid"/>
          </a:ln>
        </p:spPr>
        <p:txBody>
          <a:bodyPr/>
          <a:lstStyle/>
          <a:p>
            <a:endParaRPr lang="en-US"/>
          </a:p>
        </p:txBody>
      </p:sp>
      <p:sp>
        <p:nvSpPr>
          <p:cNvPr id="13" name="Shape 11"/>
          <p:cNvSpPr/>
          <p:nvPr/>
        </p:nvSpPr>
        <p:spPr>
          <a:xfrm>
            <a:off x="10424160" y="594360"/>
            <a:ext cx="886968" cy="6263640"/>
          </a:xfrm>
          <a:prstGeom prst="rect">
            <a:avLst/>
          </a:prstGeom>
          <a:solidFill>
            <a:srgbClr val="060912">
              <a:alpha val="63000"/>
            </a:srgbClr>
          </a:solidFill>
          <a:ln w="12700">
            <a:solidFill>
              <a:srgbClr val="060912">
                <a:alpha val="63000"/>
              </a:srgbClr>
            </a:solidFill>
            <a:prstDash val="solid"/>
          </a:ln>
        </p:spPr>
        <p:txBody>
          <a:bodyPr/>
          <a:lstStyle/>
          <a:p>
            <a:endParaRPr lang="en-US"/>
          </a:p>
        </p:txBody>
      </p:sp>
      <p:sp>
        <p:nvSpPr>
          <p:cNvPr id="14" name="Shape 12"/>
          <p:cNvSpPr/>
          <p:nvPr/>
        </p:nvSpPr>
        <p:spPr>
          <a:xfrm>
            <a:off x="11292840" y="594360"/>
            <a:ext cx="886968" cy="6263640"/>
          </a:xfrm>
          <a:prstGeom prst="rect">
            <a:avLst/>
          </a:prstGeom>
          <a:solidFill>
            <a:srgbClr val="060912">
              <a:alpha val="88000"/>
            </a:srgbClr>
          </a:solidFill>
          <a:ln w="12700">
            <a:solidFill>
              <a:srgbClr val="060912">
                <a:alpha val="88000"/>
              </a:srgbClr>
            </a:solidFill>
            <a:prstDash val="solid"/>
          </a:ln>
        </p:spPr>
        <p:txBody>
          <a:bodyPr/>
          <a:lstStyle/>
          <a:p>
            <a:endParaRPr lang="en-US"/>
          </a:p>
        </p:txBody>
      </p:sp>
      <p:sp>
        <p:nvSpPr>
          <p:cNvPr id="15" name="Shape 13"/>
          <p:cNvSpPr/>
          <p:nvPr/>
        </p:nvSpPr>
        <p:spPr>
          <a:xfrm>
            <a:off x="0" y="0"/>
            <a:ext cx="12161520" cy="594360"/>
          </a:xfrm>
          <a:prstGeom prst="rect">
            <a:avLst/>
          </a:prstGeom>
          <a:solidFill>
            <a:srgbClr val="07090D"/>
          </a:solidFill>
          <a:ln w="12700">
            <a:solidFill>
              <a:srgbClr val="07090D"/>
            </a:solidFill>
            <a:prstDash val="solid"/>
          </a:ln>
        </p:spPr>
        <p:txBody>
          <a:bodyPr/>
          <a:lstStyle/>
          <a:p>
            <a:endParaRPr lang="en-US"/>
          </a:p>
        </p:txBody>
      </p:sp>
      <p:pic>
        <p:nvPicPr>
          <p:cNvPr id="16" name="Image 0" descr="preencoded.png"/>
          <p:cNvPicPr>
            <a:picLocks noChangeAspect="1"/>
          </p:cNvPicPr>
          <p:nvPr/>
        </p:nvPicPr>
        <p:blipFill>
          <a:blip r:embed="rId3"/>
          <a:stretch>
            <a:fillRect/>
          </a:stretch>
        </p:blipFill>
        <p:spPr>
          <a:xfrm>
            <a:off x="274320" y="64008"/>
            <a:ext cx="466344" cy="466344"/>
          </a:xfrm>
          <a:prstGeom prst="rect">
            <a:avLst/>
          </a:prstGeom>
        </p:spPr>
      </p:pic>
      <p:sp>
        <p:nvSpPr>
          <p:cNvPr id="17" name="Text 14"/>
          <p:cNvSpPr/>
          <p:nvPr/>
        </p:nvSpPr>
        <p:spPr>
          <a:xfrm>
            <a:off x="804672" y="192024"/>
            <a:ext cx="3657600" cy="219456"/>
          </a:xfrm>
          <a:prstGeom prst="rect">
            <a:avLst/>
          </a:prstGeom>
          <a:noFill/>
          <a:ln/>
        </p:spPr>
        <p:txBody>
          <a:bodyPr wrap="square" lIns="0" tIns="0" rIns="0" bIns="0" rtlCol="0" anchor="ctr"/>
          <a:lstStyle/>
          <a:p>
            <a:pPr marL="0" indent="0">
              <a:buNone/>
            </a:pPr>
            <a:r>
              <a:rPr lang="en-US" sz="780" b="1" kern="0" spc="300" dirty="0">
                <a:solidFill>
                  <a:srgbClr val="8090A2"/>
                </a:solidFill>
                <a:latin typeface="Calibri" pitchFamily="34" charset="0"/>
                <a:ea typeface="Calibri" pitchFamily="34" charset="-122"/>
                <a:cs typeface="Calibri" pitchFamily="34" charset="-120"/>
              </a:rPr>
              <a:t>PRAHARI GRID SYSTEMS</a:t>
            </a:r>
            <a:endParaRPr lang="en-US" sz="780" dirty="0"/>
          </a:p>
        </p:txBody>
      </p:sp>
      <p:sp>
        <p:nvSpPr>
          <p:cNvPr id="18" name="Shape 15"/>
          <p:cNvSpPr/>
          <p:nvPr/>
        </p:nvSpPr>
        <p:spPr>
          <a:xfrm>
            <a:off x="0" y="589788"/>
            <a:ext cx="12161520" cy="18288"/>
          </a:xfrm>
          <a:prstGeom prst="rect">
            <a:avLst/>
          </a:prstGeom>
          <a:solidFill>
            <a:srgbClr val="1A6CF0"/>
          </a:solidFill>
          <a:ln w="12700">
            <a:solidFill>
              <a:srgbClr val="1A6CF0"/>
            </a:solidFill>
            <a:prstDash val="solid"/>
          </a:ln>
        </p:spPr>
        <p:txBody>
          <a:bodyPr/>
          <a:lstStyle/>
          <a:p>
            <a:endParaRPr lang="en-US"/>
          </a:p>
        </p:txBody>
      </p:sp>
      <p:sp>
        <p:nvSpPr>
          <p:cNvPr id="19" name="Text 16"/>
          <p:cNvSpPr/>
          <p:nvPr/>
        </p:nvSpPr>
        <p:spPr>
          <a:xfrm>
            <a:off x="11338560" y="164592"/>
            <a:ext cx="566928" cy="237744"/>
          </a:xfrm>
          <a:prstGeom prst="rect">
            <a:avLst/>
          </a:prstGeom>
          <a:noFill/>
          <a:ln/>
        </p:spPr>
        <p:txBody>
          <a:bodyPr wrap="square" lIns="0" tIns="0" rIns="0" bIns="0" rtlCol="0" anchor="ctr"/>
          <a:lstStyle/>
          <a:p>
            <a:pPr marL="0" indent="0" algn="r">
              <a:buNone/>
            </a:pPr>
            <a:r>
              <a:rPr lang="en-US" sz="1100" b="1" dirty="0">
                <a:solidFill>
                  <a:srgbClr val="243040"/>
                </a:solidFill>
                <a:latin typeface="Calibri" pitchFamily="34" charset="0"/>
                <a:ea typeface="Calibri" pitchFamily="34" charset="-122"/>
                <a:cs typeface="Calibri" pitchFamily="34" charset="-120"/>
              </a:rPr>
              <a:t>04</a:t>
            </a:r>
            <a:endParaRPr lang="en-US" sz="1100" dirty="0"/>
          </a:p>
        </p:txBody>
      </p:sp>
      <p:sp>
        <p:nvSpPr>
          <p:cNvPr id="20" name="Text 17"/>
          <p:cNvSpPr/>
          <p:nvPr/>
        </p:nvSpPr>
        <p:spPr>
          <a:xfrm>
            <a:off x="457200" y="749808"/>
            <a:ext cx="7315200" cy="219456"/>
          </a:xfrm>
          <a:prstGeom prst="rect">
            <a:avLst/>
          </a:prstGeom>
          <a:noFill/>
          <a:ln/>
        </p:spPr>
        <p:txBody>
          <a:bodyPr wrap="square" lIns="0" tIns="0" rIns="0" bIns="0" rtlCol="0" anchor="ctr"/>
          <a:lstStyle/>
          <a:p>
            <a:pPr marL="0" indent="0">
              <a:buNone/>
            </a:pPr>
            <a:r>
              <a:rPr lang="en-US" sz="750" b="1" kern="0" spc="350" dirty="0">
                <a:solidFill>
                  <a:srgbClr val="EDF3FA"/>
                </a:solidFill>
                <a:latin typeface="Calibri" pitchFamily="34" charset="0"/>
                <a:ea typeface="Calibri" pitchFamily="34" charset="-122"/>
                <a:cs typeface="Calibri" pitchFamily="34" charset="-120"/>
              </a:rPr>
              <a:t>ONE PLATFORM, TWO MODES</a:t>
            </a:r>
            <a:endParaRPr lang="en-US" sz="750" dirty="0"/>
          </a:p>
        </p:txBody>
      </p:sp>
      <p:sp>
        <p:nvSpPr>
          <p:cNvPr id="21" name="Text 18"/>
          <p:cNvSpPr/>
          <p:nvPr/>
        </p:nvSpPr>
        <p:spPr>
          <a:xfrm>
            <a:off x="0" y="950976"/>
            <a:ext cx="12161520" cy="777240"/>
          </a:xfrm>
          <a:prstGeom prst="rect">
            <a:avLst/>
          </a:prstGeom>
          <a:noFill/>
          <a:ln/>
        </p:spPr>
        <p:txBody>
          <a:bodyPr wrap="square" lIns="0" tIns="0" rIns="0" bIns="0" rtlCol="0" anchor="ctr"/>
          <a:lstStyle/>
          <a:p>
            <a:pPr marL="0" indent="0" algn="ctr">
              <a:buNone/>
            </a:pPr>
            <a:r>
              <a:rPr lang="en-US" sz="3000" b="1" dirty="0">
                <a:solidFill>
                  <a:srgbClr val="EDF3FA"/>
                </a:solidFill>
                <a:latin typeface="Cambria" pitchFamily="34" charset="0"/>
                <a:ea typeface="Cambria" pitchFamily="34" charset="-122"/>
                <a:cs typeface="Cambria" pitchFamily="34" charset="-120"/>
              </a:rPr>
              <a:t>One Product. Two Operating Modes.</a:t>
            </a:r>
            <a:endParaRPr lang="en-US" sz="3000" dirty="0"/>
          </a:p>
        </p:txBody>
      </p:sp>
      <p:sp>
        <p:nvSpPr>
          <p:cNvPr id="22" name="Text 19"/>
          <p:cNvSpPr/>
          <p:nvPr/>
        </p:nvSpPr>
        <p:spPr>
          <a:xfrm>
            <a:off x="1828800" y="1627632"/>
            <a:ext cx="8503920" cy="384048"/>
          </a:xfrm>
          <a:prstGeom prst="rect">
            <a:avLst/>
          </a:prstGeom>
          <a:noFill/>
          <a:ln/>
        </p:spPr>
        <p:txBody>
          <a:bodyPr wrap="square" lIns="0" tIns="0" rIns="0" bIns="0" rtlCol="0" anchor="ctr"/>
          <a:lstStyle/>
          <a:p>
            <a:pPr marL="0" indent="0" algn="ctr">
              <a:buNone/>
            </a:pPr>
            <a:r>
              <a:rPr lang="en-US" sz="1100" dirty="0">
                <a:solidFill>
                  <a:srgbClr val="8090A2"/>
                </a:solidFill>
                <a:latin typeface="Calibri" pitchFamily="34" charset="0"/>
                <a:ea typeface="Calibri" pitchFamily="34" charset="-122"/>
                <a:cs typeface="Calibri" pitchFamily="34" charset="-120"/>
              </a:rPr>
              <a:t>PRAHARI shifts seamlessly between commercial display and public safety infrastructure, on the same hardware, without interruption.</a:t>
            </a:r>
            <a:endParaRPr lang="en-US" sz="1100" dirty="0"/>
          </a:p>
        </p:txBody>
      </p:sp>
      <p:sp>
        <p:nvSpPr>
          <p:cNvPr id="23" name="Shape 20"/>
          <p:cNvSpPr/>
          <p:nvPr/>
        </p:nvSpPr>
        <p:spPr>
          <a:xfrm>
            <a:off x="4128978" y="6446520"/>
            <a:ext cx="3903565" cy="365760"/>
          </a:xfrm>
          <a:prstGeom prst="ellipse">
            <a:avLst/>
          </a:prstGeom>
          <a:solidFill>
            <a:srgbClr val="000000">
              <a:alpha val="45000"/>
            </a:srgbClr>
          </a:solidFill>
          <a:ln w="12700">
            <a:solidFill>
              <a:srgbClr val="000000">
                <a:alpha val="0"/>
              </a:srgbClr>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4449018" y="1755648"/>
            <a:ext cx="3263485" cy="4892040"/>
          </a:xfrm>
          <a:prstGeom prst="rect">
            <a:avLst/>
          </a:prstGeom>
        </p:spPr>
      </p:pic>
      <p:pic>
        <p:nvPicPr>
          <p:cNvPr id="25" name="Image 2" descr="preencoded.png"/>
          <p:cNvPicPr>
            <a:picLocks noChangeAspect="1"/>
          </p:cNvPicPr>
          <p:nvPr/>
        </p:nvPicPr>
        <p:blipFill>
          <a:blip r:embed="rId5"/>
          <a:stretch>
            <a:fillRect/>
          </a:stretch>
        </p:blipFill>
        <p:spPr>
          <a:xfrm>
            <a:off x="502920" y="2679192"/>
            <a:ext cx="274320" cy="274320"/>
          </a:xfrm>
          <a:prstGeom prst="rect">
            <a:avLst/>
          </a:prstGeom>
        </p:spPr>
      </p:pic>
      <p:sp>
        <p:nvSpPr>
          <p:cNvPr id="26" name="Text 21"/>
          <p:cNvSpPr/>
          <p:nvPr/>
        </p:nvSpPr>
        <p:spPr>
          <a:xfrm>
            <a:off x="850392" y="2697480"/>
            <a:ext cx="3141426" cy="329184"/>
          </a:xfrm>
          <a:prstGeom prst="rect">
            <a:avLst/>
          </a:prstGeom>
          <a:noFill/>
          <a:ln/>
        </p:spPr>
        <p:txBody>
          <a:bodyPr wrap="square" lIns="0" tIns="0" rIns="0" bIns="0" rtlCol="0" anchor="ctr"/>
          <a:lstStyle/>
          <a:p>
            <a:pPr marL="0" indent="0">
              <a:buNone/>
            </a:pPr>
            <a:r>
              <a:rPr lang="en-US" sz="1200" b="1" kern="0" spc="100" dirty="0">
                <a:solidFill>
                  <a:srgbClr val="D08C18"/>
                </a:solidFill>
                <a:latin typeface="Calibri" pitchFamily="34" charset="0"/>
                <a:ea typeface="Calibri" pitchFamily="34" charset="-122"/>
                <a:cs typeface="Calibri" pitchFamily="34" charset="-120"/>
              </a:rPr>
              <a:t>DAY MODE</a:t>
            </a:r>
            <a:endParaRPr lang="en-US" sz="1200" dirty="0"/>
          </a:p>
        </p:txBody>
      </p:sp>
      <p:sp>
        <p:nvSpPr>
          <p:cNvPr id="27" name="Shape 22"/>
          <p:cNvSpPr/>
          <p:nvPr/>
        </p:nvSpPr>
        <p:spPr>
          <a:xfrm>
            <a:off x="502920" y="3054096"/>
            <a:ext cx="502920" cy="23774"/>
          </a:xfrm>
          <a:prstGeom prst="rect">
            <a:avLst/>
          </a:prstGeom>
          <a:solidFill>
            <a:srgbClr val="D08C18"/>
          </a:solidFill>
          <a:ln w="12700">
            <a:solidFill>
              <a:srgbClr val="D08C18"/>
            </a:solidFill>
            <a:prstDash val="solid"/>
          </a:ln>
        </p:spPr>
        <p:txBody>
          <a:bodyPr/>
          <a:lstStyle/>
          <a:p>
            <a:endParaRPr lang="en-US"/>
          </a:p>
        </p:txBody>
      </p:sp>
      <p:sp>
        <p:nvSpPr>
          <p:cNvPr id="28" name="Text 23"/>
          <p:cNvSpPr/>
          <p:nvPr/>
        </p:nvSpPr>
        <p:spPr>
          <a:xfrm>
            <a:off x="502920" y="3200400"/>
            <a:ext cx="3488898" cy="457200"/>
          </a:xfrm>
          <a:prstGeom prst="rect">
            <a:avLst/>
          </a:prstGeom>
          <a:noFill/>
          <a:ln/>
        </p:spPr>
        <p:txBody>
          <a:bodyPr wrap="square" lIns="0" tIns="0" rIns="0" bIns="0" rtlCol="0" anchor="ctr"/>
          <a:lstStyle/>
          <a:p>
            <a:pPr marL="0" indent="0">
              <a:buNone/>
            </a:pPr>
            <a:r>
              <a:rPr lang="en-US" sz="2100" b="1" dirty="0">
                <a:solidFill>
                  <a:srgbClr val="EDF3FA"/>
                </a:solidFill>
                <a:latin typeface="Cambria" pitchFamily="34" charset="0"/>
                <a:ea typeface="Cambria" pitchFamily="34" charset="-122"/>
                <a:cs typeface="Cambria" pitchFamily="34" charset="-120"/>
              </a:rPr>
              <a:t>Revenue &amp; Utility</a:t>
            </a:r>
            <a:endParaRPr lang="en-US" sz="2100" dirty="0"/>
          </a:p>
        </p:txBody>
      </p:sp>
      <p:sp>
        <p:nvSpPr>
          <p:cNvPr id="29" name="Text 24"/>
          <p:cNvSpPr/>
          <p:nvPr/>
        </p:nvSpPr>
        <p:spPr>
          <a:xfrm>
            <a:off x="502920" y="3703320"/>
            <a:ext cx="3488898" cy="777240"/>
          </a:xfrm>
          <a:prstGeom prst="rect">
            <a:avLst/>
          </a:prstGeom>
          <a:noFill/>
          <a:ln/>
        </p:spPr>
        <p:txBody>
          <a:bodyPr wrap="square" lIns="0" tIns="0" rIns="0" bIns="0" rtlCol="0" anchor="ctr"/>
          <a:lstStyle/>
          <a:p>
            <a:pPr marL="0" indent="0">
              <a:buNone/>
            </a:pPr>
            <a:r>
              <a:rPr lang="en-US" sz="1050" dirty="0">
                <a:solidFill>
                  <a:srgbClr val="C2CDD9"/>
                </a:solidFill>
                <a:latin typeface="Calibri" pitchFamily="34" charset="0"/>
                <a:ea typeface="Calibri" pitchFamily="34" charset="-122"/>
                <a:cs typeface="Calibri" pitchFamily="34" charset="-120"/>
              </a:rPr>
              <a:t>The display generates hyperlocal advertising revenue that funds the public safety network. No public budget required.</a:t>
            </a:r>
            <a:endParaRPr lang="en-US" sz="1050" dirty="0"/>
          </a:p>
        </p:txBody>
      </p:sp>
      <p:sp>
        <p:nvSpPr>
          <p:cNvPr id="30" name="Shape 25"/>
          <p:cNvSpPr/>
          <p:nvPr/>
        </p:nvSpPr>
        <p:spPr>
          <a:xfrm>
            <a:off x="502920" y="4663440"/>
            <a:ext cx="54864" cy="54864"/>
          </a:xfrm>
          <a:prstGeom prst="rect">
            <a:avLst/>
          </a:prstGeom>
          <a:solidFill>
            <a:srgbClr val="D08C18"/>
          </a:solidFill>
          <a:ln w="12700">
            <a:solidFill>
              <a:srgbClr val="D08C18"/>
            </a:solidFill>
            <a:prstDash val="solid"/>
          </a:ln>
        </p:spPr>
        <p:txBody>
          <a:bodyPr/>
          <a:lstStyle/>
          <a:p>
            <a:endParaRPr lang="en-US"/>
          </a:p>
        </p:txBody>
      </p:sp>
      <p:sp>
        <p:nvSpPr>
          <p:cNvPr id="31" name="Text 26"/>
          <p:cNvSpPr/>
          <p:nvPr/>
        </p:nvSpPr>
        <p:spPr>
          <a:xfrm>
            <a:off x="704088" y="4572000"/>
            <a:ext cx="3287730" cy="310896"/>
          </a:xfrm>
          <a:prstGeom prst="rect">
            <a:avLst/>
          </a:prstGeom>
          <a:noFill/>
          <a:ln/>
        </p:spPr>
        <p:txBody>
          <a:bodyPr wrap="square" lIns="0" tIns="0" rIns="0" bIns="0" rtlCol="0" anchor="ctr"/>
          <a:lstStyle/>
          <a:p>
            <a:pPr marL="0" indent="0">
              <a:buNone/>
            </a:pPr>
            <a:r>
              <a:rPr lang="en-US" sz="1080" dirty="0">
                <a:solidFill>
                  <a:srgbClr val="EDF3FA"/>
                </a:solidFill>
                <a:latin typeface="Calibri" pitchFamily="34" charset="0"/>
                <a:ea typeface="Calibri" pitchFamily="34" charset="-122"/>
                <a:cs typeface="Calibri" pitchFamily="34" charset="-120"/>
              </a:rPr>
              <a:t>Local Business Advertising</a:t>
            </a:r>
            <a:endParaRPr lang="en-US" sz="1080" dirty="0"/>
          </a:p>
        </p:txBody>
      </p:sp>
      <p:sp>
        <p:nvSpPr>
          <p:cNvPr id="32" name="Shape 27"/>
          <p:cNvSpPr/>
          <p:nvPr/>
        </p:nvSpPr>
        <p:spPr>
          <a:xfrm>
            <a:off x="502920" y="5084064"/>
            <a:ext cx="54864" cy="54864"/>
          </a:xfrm>
          <a:prstGeom prst="rect">
            <a:avLst/>
          </a:prstGeom>
          <a:solidFill>
            <a:srgbClr val="D08C18"/>
          </a:solidFill>
          <a:ln w="12700">
            <a:solidFill>
              <a:srgbClr val="D08C18"/>
            </a:solidFill>
            <a:prstDash val="solid"/>
          </a:ln>
        </p:spPr>
        <p:txBody>
          <a:bodyPr/>
          <a:lstStyle/>
          <a:p>
            <a:endParaRPr lang="en-US"/>
          </a:p>
        </p:txBody>
      </p:sp>
      <p:sp>
        <p:nvSpPr>
          <p:cNvPr id="33" name="Text 28"/>
          <p:cNvSpPr/>
          <p:nvPr/>
        </p:nvSpPr>
        <p:spPr>
          <a:xfrm>
            <a:off x="704088" y="4992624"/>
            <a:ext cx="3287730" cy="310896"/>
          </a:xfrm>
          <a:prstGeom prst="rect">
            <a:avLst/>
          </a:prstGeom>
          <a:noFill/>
          <a:ln/>
        </p:spPr>
        <p:txBody>
          <a:bodyPr wrap="square" lIns="0" tIns="0" rIns="0" bIns="0" rtlCol="0" anchor="ctr"/>
          <a:lstStyle/>
          <a:p>
            <a:pPr marL="0" indent="0">
              <a:buNone/>
            </a:pPr>
            <a:r>
              <a:rPr lang="en-US" sz="1080" dirty="0">
                <a:solidFill>
                  <a:srgbClr val="EDF3FA"/>
                </a:solidFill>
                <a:latin typeface="Calibri" pitchFamily="34" charset="0"/>
                <a:ea typeface="Calibri" pitchFamily="34" charset="-122"/>
                <a:cs typeface="Calibri" pitchFamily="34" charset="-120"/>
              </a:rPr>
              <a:t>Community Messaging</a:t>
            </a:r>
            <a:endParaRPr lang="en-US" sz="1080" dirty="0"/>
          </a:p>
        </p:txBody>
      </p:sp>
      <p:sp>
        <p:nvSpPr>
          <p:cNvPr id="34" name="Shape 29"/>
          <p:cNvSpPr/>
          <p:nvPr/>
        </p:nvSpPr>
        <p:spPr>
          <a:xfrm>
            <a:off x="502920" y="5504688"/>
            <a:ext cx="54864" cy="54864"/>
          </a:xfrm>
          <a:prstGeom prst="rect">
            <a:avLst/>
          </a:prstGeom>
          <a:solidFill>
            <a:srgbClr val="D08C18"/>
          </a:solidFill>
          <a:ln w="12700">
            <a:solidFill>
              <a:srgbClr val="D08C18"/>
            </a:solidFill>
            <a:prstDash val="solid"/>
          </a:ln>
        </p:spPr>
        <p:txBody>
          <a:bodyPr/>
          <a:lstStyle/>
          <a:p>
            <a:endParaRPr lang="en-US"/>
          </a:p>
        </p:txBody>
      </p:sp>
      <p:sp>
        <p:nvSpPr>
          <p:cNvPr id="35" name="Text 30"/>
          <p:cNvSpPr/>
          <p:nvPr/>
        </p:nvSpPr>
        <p:spPr>
          <a:xfrm>
            <a:off x="704088" y="5413248"/>
            <a:ext cx="3287730" cy="310896"/>
          </a:xfrm>
          <a:prstGeom prst="rect">
            <a:avLst/>
          </a:prstGeom>
          <a:noFill/>
          <a:ln/>
        </p:spPr>
        <p:txBody>
          <a:bodyPr wrap="square" lIns="0" tIns="0" rIns="0" bIns="0" rtlCol="0" anchor="ctr"/>
          <a:lstStyle/>
          <a:p>
            <a:pPr marL="0" indent="0">
              <a:buNone/>
            </a:pPr>
            <a:r>
              <a:rPr lang="en-US" sz="1080" dirty="0">
                <a:solidFill>
                  <a:srgbClr val="EDF3FA"/>
                </a:solidFill>
                <a:latin typeface="Calibri" pitchFamily="34" charset="0"/>
                <a:ea typeface="Calibri" pitchFamily="34" charset="-122"/>
                <a:cs typeface="Calibri" pitchFamily="34" charset="-120"/>
              </a:rPr>
              <a:t>Public Information Displays</a:t>
            </a:r>
            <a:endParaRPr lang="en-US" sz="1080" dirty="0"/>
          </a:p>
        </p:txBody>
      </p:sp>
      <p:sp>
        <p:nvSpPr>
          <p:cNvPr id="36" name="Shape 31"/>
          <p:cNvSpPr/>
          <p:nvPr/>
        </p:nvSpPr>
        <p:spPr>
          <a:xfrm>
            <a:off x="502920" y="5925312"/>
            <a:ext cx="54864" cy="54864"/>
          </a:xfrm>
          <a:prstGeom prst="rect">
            <a:avLst/>
          </a:prstGeom>
          <a:solidFill>
            <a:srgbClr val="D08C18"/>
          </a:solidFill>
          <a:ln w="12700">
            <a:solidFill>
              <a:srgbClr val="D08C18"/>
            </a:solidFill>
            <a:prstDash val="solid"/>
          </a:ln>
        </p:spPr>
        <p:txBody>
          <a:bodyPr/>
          <a:lstStyle/>
          <a:p>
            <a:endParaRPr lang="en-US"/>
          </a:p>
        </p:txBody>
      </p:sp>
      <p:sp>
        <p:nvSpPr>
          <p:cNvPr id="37" name="Text 32"/>
          <p:cNvSpPr/>
          <p:nvPr/>
        </p:nvSpPr>
        <p:spPr>
          <a:xfrm>
            <a:off x="704088" y="5833872"/>
            <a:ext cx="3287730" cy="310896"/>
          </a:xfrm>
          <a:prstGeom prst="rect">
            <a:avLst/>
          </a:prstGeom>
          <a:noFill/>
          <a:ln/>
        </p:spPr>
        <p:txBody>
          <a:bodyPr wrap="square" lIns="0" tIns="0" rIns="0" bIns="0" rtlCol="0" anchor="ctr"/>
          <a:lstStyle/>
          <a:p>
            <a:pPr marL="0" indent="0">
              <a:buNone/>
            </a:pPr>
            <a:r>
              <a:rPr lang="en-US" sz="1080" dirty="0">
                <a:solidFill>
                  <a:srgbClr val="EDF3FA"/>
                </a:solidFill>
                <a:latin typeface="Calibri" pitchFamily="34" charset="0"/>
                <a:ea typeface="Calibri" pitchFamily="34" charset="-122"/>
                <a:cs typeface="Calibri" pitchFamily="34" charset="-120"/>
              </a:rPr>
              <a:t>Hyperlocal Neighbourhood Reach</a:t>
            </a:r>
            <a:endParaRPr lang="en-US" sz="1080" dirty="0"/>
          </a:p>
        </p:txBody>
      </p:sp>
      <p:pic>
        <p:nvPicPr>
          <p:cNvPr id="38" name="Image 3" descr="preencoded.png"/>
          <p:cNvPicPr>
            <a:picLocks noChangeAspect="1"/>
          </p:cNvPicPr>
          <p:nvPr/>
        </p:nvPicPr>
        <p:blipFill>
          <a:blip r:embed="rId6"/>
          <a:stretch>
            <a:fillRect/>
          </a:stretch>
        </p:blipFill>
        <p:spPr>
          <a:xfrm>
            <a:off x="8169702" y="2679192"/>
            <a:ext cx="274320" cy="274320"/>
          </a:xfrm>
          <a:prstGeom prst="rect">
            <a:avLst/>
          </a:prstGeom>
        </p:spPr>
      </p:pic>
      <p:sp>
        <p:nvSpPr>
          <p:cNvPr id="39" name="Text 33"/>
          <p:cNvSpPr/>
          <p:nvPr/>
        </p:nvSpPr>
        <p:spPr>
          <a:xfrm>
            <a:off x="8517174" y="2697480"/>
            <a:ext cx="3141426" cy="329184"/>
          </a:xfrm>
          <a:prstGeom prst="rect">
            <a:avLst/>
          </a:prstGeom>
          <a:noFill/>
          <a:ln/>
        </p:spPr>
        <p:txBody>
          <a:bodyPr wrap="square" lIns="0" tIns="0" rIns="0" bIns="0" rtlCol="0" anchor="ctr"/>
          <a:lstStyle/>
          <a:p>
            <a:pPr marL="0" indent="0">
              <a:buNone/>
            </a:pPr>
            <a:r>
              <a:rPr lang="en-US" sz="1200" b="1" kern="0" spc="100" dirty="0">
                <a:solidFill>
                  <a:srgbClr val="4D8EF8"/>
                </a:solidFill>
                <a:latin typeface="Calibri" pitchFamily="34" charset="0"/>
                <a:ea typeface="Calibri" pitchFamily="34" charset="-122"/>
                <a:cs typeface="Calibri" pitchFamily="34" charset="-120"/>
              </a:rPr>
              <a:t>NIGHT &amp; EMERGENCY</a:t>
            </a:r>
            <a:endParaRPr lang="en-US" sz="1200" dirty="0"/>
          </a:p>
        </p:txBody>
      </p:sp>
      <p:sp>
        <p:nvSpPr>
          <p:cNvPr id="40" name="Shape 34"/>
          <p:cNvSpPr/>
          <p:nvPr/>
        </p:nvSpPr>
        <p:spPr>
          <a:xfrm>
            <a:off x="8169702" y="3054096"/>
            <a:ext cx="502920" cy="23774"/>
          </a:xfrm>
          <a:prstGeom prst="rect">
            <a:avLst/>
          </a:prstGeom>
          <a:solidFill>
            <a:srgbClr val="1A6CF0"/>
          </a:solidFill>
          <a:ln w="12700">
            <a:solidFill>
              <a:srgbClr val="1A6CF0"/>
            </a:solidFill>
            <a:prstDash val="solid"/>
          </a:ln>
        </p:spPr>
        <p:txBody>
          <a:bodyPr/>
          <a:lstStyle/>
          <a:p>
            <a:endParaRPr lang="en-US"/>
          </a:p>
        </p:txBody>
      </p:sp>
      <p:sp>
        <p:nvSpPr>
          <p:cNvPr id="41" name="Text 35"/>
          <p:cNvSpPr/>
          <p:nvPr/>
        </p:nvSpPr>
        <p:spPr>
          <a:xfrm>
            <a:off x="8169702" y="3200400"/>
            <a:ext cx="3488898" cy="457200"/>
          </a:xfrm>
          <a:prstGeom prst="rect">
            <a:avLst/>
          </a:prstGeom>
          <a:noFill/>
          <a:ln/>
        </p:spPr>
        <p:txBody>
          <a:bodyPr wrap="square" lIns="0" tIns="0" rIns="0" bIns="0" rtlCol="0" anchor="ctr"/>
          <a:lstStyle/>
          <a:p>
            <a:pPr marL="0" indent="0">
              <a:buNone/>
            </a:pPr>
            <a:r>
              <a:rPr lang="en-US" sz="2100" b="1" dirty="0">
                <a:solidFill>
                  <a:srgbClr val="EDF3FA"/>
                </a:solidFill>
                <a:latin typeface="Cambria" pitchFamily="34" charset="0"/>
                <a:ea typeface="Cambria" pitchFamily="34" charset="-122"/>
                <a:cs typeface="Cambria" pitchFamily="34" charset="-120"/>
              </a:rPr>
              <a:t>Safety Network</a:t>
            </a:r>
            <a:endParaRPr lang="en-US" sz="2100" dirty="0"/>
          </a:p>
        </p:txBody>
      </p:sp>
      <p:sp>
        <p:nvSpPr>
          <p:cNvPr id="42" name="Text 36"/>
          <p:cNvSpPr/>
          <p:nvPr/>
        </p:nvSpPr>
        <p:spPr>
          <a:xfrm>
            <a:off x="8169702" y="3703320"/>
            <a:ext cx="3488898" cy="777240"/>
          </a:xfrm>
          <a:prstGeom prst="rect">
            <a:avLst/>
          </a:prstGeom>
          <a:noFill/>
          <a:ln/>
        </p:spPr>
        <p:txBody>
          <a:bodyPr wrap="square" lIns="0" tIns="0" rIns="0" bIns="0" rtlCol="0" anchor="ctr"/>
          <a:lstStyle/>
          <a:p>
            <a:pPr marL="0" indent="0">
              <a:buNone/>
            </a:pPr>
            <a:r>
              <a:rPr lang="en-US" sz="1050" dirty="0">
                <a:solidFill>
                  <a:srgbClr val="C2CDD9"/>
                </a:solidFill>
                <a:latin typeface="Calibri" pitchFamily="34" charset="0"/>
                <a:ea typeface="Calibri" pitchFamily="34" charset="-122"/>
                <a:cs typeface="Calibri" pitchFamily="34" charset="-120"/>
              </a:rPr>
              <a:t>One press connects citizens directly to a live operator who can escalate to emergency services immediately.</a:t>
            </a:r>
            <a:endParaRPr lang="en-US" sz="1050" dirty="0"/>
          </a:p>
        </p:txBody>
      </p:sp>
      <p:sp>
        <p:nvSpPr>
          <p:cNvPr id="43" name="Shape 37"/>
          <p:cNvSpPr/>
          <p:nvPr/>
        </p:nvSpPr>
        <p:spPr>
          <a:xfrm>
            <a:off x="8169702" y="4663440"/>
            <a:ext cx="54864" cy="54864"/>
          </a:xfrm>
          <a:prstGeom prst="rect">
            <a:avLst/>
          </a:prstGeom>
          <a:solidFill>
            <a:srgbClr val="4D8EF8"/>
          </a:solidFill>
          <a:ln w="12700">
            <a:solidFill>
              <a:srgbClr val="4D8EF8"/>
            </a:solidFill>
            <a:prstDash val="solid"/>
          </a:ln>
        </p:spPr>
        <p:txBody>
          <a:bodyPr/>
          <a:lstStyle/>
          <a:p>
            <a:endParaRPr lang="en-US"/>
          </a:p>
        </p:txBody>
      </p:sp>
      <p:sp>
        <p:nvSpPr>
          <p:cNvPr id="44" name="Text 38"/>
          <p:cNvSpPr/>
          <p:nvPr/>
        </p:nvSpPr>
        <p:spPr>
          <a:xfrm>
            <a:off x="8370870" y="4572000"/>
            <a:ext cx="3287730" cy="310896"/>
          </a:xfrm>
          <a:prstGeom prst="rect">
            <a:avLst/>
          </a:prstGeom>
          <a:noFill/>
          <a:ln/>
        </p:spPr>
        <p:txBody>
          <a:bodyPr wrap="square" lIns="0" tIns="0" rIns="0" bIns="0" rtlCol="0" anchor="ctr"/>
          <a:lstStyle/>
          <a:p>
            <a:pPr marL="0" indent="0">
              <a:buNone/>
            </a:pPr>
            <a:r>
              <a:rPr lang="en-US" sz="1080" dirty="0">
                <a:solidFill>
                  <a:srgbClr val="EDF3FA"/>
                </a:solidFill>
                <a:latin typeface="Calibri" pitchFamily="34" charset="0"/>
                <a:ea typeface="Calibri" pitchFamily="34" charset="-122"/>
                <a:cs typeface="Calibri" pitchFamily="34" charset="-120"/>
              </a:rPr>
              <a:t>SOS Emergency Assistance</a:t>
            </a:r>
            <a:endParaRPr lang="en-US" sz="1080" dirty="0"/>
          </a:p>
        </p:txBody>
      </p:sp>
      <p:sp>
        <p:nvSpPr>
          <p:cNvPr id="45" name="Shape 39"/>
          <p:cNvSpPr/>
          <p:nvPr/>
        </p:nvSpPr>
        <p:spPr>
          <a:xfrm>
            <a:off x="8169702" y="5084064"/>
            <a:ext cx="54864" cy="54864"/>
          </a:xfrm>
          <a:prstGeom prst="rect">
            <a:avLst/>
          </a:prstGeom>
          <a:solidFill>
            <a:srgbClr val="4D8EF8"/>
          </a:solidFill>
          <a:ln w="12700">
            <a:solidFill>
              <a:srgbClr val="4D8EF8"/>
            </a:solidFill>
            <a:prstDash val="solid"/>
          </a:ln>
        </p:spPr>
        <p:txBody>
          <a:bodyPr/>
          <a:lstStyle/>
          <a:p>
            <a:endParaRPr lang="en-US"/>
          </a:p>
        </p:txBody>
      </p:sp>
      <p:sp>
        <p:nvSpPr>
          <p:cNvPr id="46" name="Text 40"/>
          <p:cNvSpPr/>
          <p:nvPr/>
        </p:nvSpPr>
        <p:spPr>
          <a:xfrm>
            <a:off x="8370870" y="4992624"/>
            <a:ext cx="3287730" cy="310896"/>
          </a:xfrm>
          <a:prstGeom prst="rect">
            <a:avLst/>
          </a:prstGeom>
          <a:noFill/>
          <a:ln/>
        </p:spPr>
        <p:txBody>
          <a:bodyPr wrap="square" lIns="0" tIns="0" rIns="0" bIns="0" rtlCol="0" anchor="ctr"/>
          <a:lstStyle/>
          <a:p>
            <a:pPr marL="0" indent="0">
              <a:buNone/>
            </a:pPr>
            <a:r>
              <a:rPr lang="en-US" sz="1080" dirty="0">
                <a:solidFill>
                  <a:srgbClr val="EDF3FA"/>
                </a:solidFill>
                <a:latin typeface="Calibri" pitchFamily="34" charset="0"/>
                <a:ea typeface="Calibri" pitchFamily="34" charset="-122"/>
                <a:cs typeface="Calibri" pitchFamily="34" charset="-120"/>
              </a:rPr>
              <a:t>Live Operator Communication</a:t>
            </a:r>
            <a:endParaRPr lang="en-US" sz="1080" dirty="0"/>
          </a:p>
        </p:txBody>
      </p:sp>
      <p:sp>
        <p:nvSpPr>
          <p:cNvPr id="47" name="Shape 41"/>
          <p:cNvSpPr/>
          <p:nvPr/>
        </p:nvSpPr>
        <p:spPr>
          <a:xfrm>
            <a:off x="8169702" y="5504688"/>
            <a:ext cx="54864" cy="54864"/>
          </a:xfrm>
          <a:prstGeom prst="rect">
            <a:avLst/>
          </a:prstGeom>
          <a:solidFill>
            <a:srgbClr val="4D8EF8"/>
          </a:solidFill>
          <a:ln w="12700">
            <a:solidFill>
              <a:srgbClr val="4D8EF8"/>
            </a:solidFill>
            <a:prstDash val="solid"/>
          </a:ln>
        </p:spPr>
        <p:txBody>
          <a:bodyPr/>
          <a:lstStyle/>
          <a:p>
            <a:endParaRPr lang="en-US"/>
          </a:p>
        </p:txBody>
      </p:sp>
      <p:sp>
        <p:nvSpPr>
          <p:cNvPr id="48" name="Text 42"/>
          <p:cNvSpPr/>
          <p:nvPr/>
        </p:nvSpPr>
        <p:spPr>
          <a:xfrm>
            <a:off x="8370870" y="5413248"/>
            <a:ext cx="3287730" cy="310896"/>
          </a:xfrm>
          <a:prstGeom prst="rect">
            <a:avLst/>
          </a:prstGeom>
          <a:noFill/>
          <a:ln/>
        </p:spPr>
        <p:txBody>
          <a:bodyPr wrap="square" lIns="0" tIns="0" rIns="0" bIns="0" rtlCol="0" anchor="ctr"/>
          <a:lstStyle/>
          <a:p>
            <a:pPr marL="0" indent="0">
              <a:buNone/>
            </a:pPr>
            <a:r>
              <a:rPr lang="en-US" sz="1080" dirty="0">
                <a:solidFill>
                  <a:srgbClr val="EDF3FA"/>
                </a:solidFill>
                <a:latin typeface="Calibri" pitchFamily="34" charset="0"/>
                <a:ea typeface="Calibri" pitchFamily="34" charset="-122"/>
                <a:cs typeface="Calibri" pitchFamily="34" charset="-120"/>
              </a:rPr>
              <a:t>Public Safety Alerts</a:t>
            </a:r>
            <a:endParaRPr lang="en-US" sz="1080" dirty="0"/>
          </a:p>
        </p:txBody>
      </p:sp>
      <p:sp>
        <p:nvSpPr>
          <p:cNvPr id="49" name="Shape 43"/>
          <p:cNvSpPr/>
          <p:nvPr/>
        </p:nvSpPr>
        <p:spPr>
          <a:xfrm>
            <a:off x="8169702" y="5925312"/>
            <a:ext cx="54864" cy="54864"/>
          </a:xfrm>
          <a:prstGeom prst="rect">
            <a:avLst/>
          </a:prstGeom>
          <a:solidFill>
            <a:srgbClr val="4D8EF8"/>
          </a:solidFill>
          <a:ln w="12700">
            <a:solidFill>
              <a:srgbClr val="4D8EF8"/>
            </a:solidFill>
            <a:prstDash val="solid"/>
          </a:ln>
        </p:spPr>
        <p:txBody>
          <a:bodyPr/>
          <a:lstStyle/>
          <a:p>
            <a:endParaRPr lang="en-US"/>
          </a:p>
        </p:txBody>
      </p:sp>
      <p:sp>
        <p:nvSpPr>
          <p:cNvPr id="50" name="Text 44"/>
          <p:cNvSpPr/>
          <p:nvPr/>
        </p:nvSpPr>
        <p:spPr>
          <a:xfrm>
            <a:off x="8370870" y="5833872"/>
            <a:ext cx="3287730" cy="310896"/>
          </a:xfrm>
          <a:prstGeom prst="rect">
            <a:avLst/>
          </a:prstGeom>
          <a:noFill/>
          <a:ln/>
        </p:spPr>
        <p:txBody>
          <a:bodyPr wrap="square" lIns="0" tIns="0" rIns="0" bIns="0" rtlCol="0" anchor="ctr"/>
          <a:lstStyle/>
          <a:p>
            <a:pPr marL="0" indent="0">
              <a:buNone/>
            </a:pPr>
            <a:r>
              <a:rPr lang="en-US" sz="1080" dirty="0">
                <a:solidFill>
                  <a:srgbClr val="EDF3FA"/>
                </a:solidFill>
                <a:latin typeface="Calibri" pitchFamily="34" charset="0"/>
                <a:ea typeface="Calibri" pitchFamily="34" charset="-122"/>
                <a:cs typeface="Calibri" pitchFamily="34" charset="-120"/>
              </a:rPr>
              <a:t>Authority Escalation &amp; Response</a:t>
            </a:r>
            <a:endParaRPr lang="en-US" sz="1080" dirty="0"/>
          </a:p>
        </p:txBody>
      </p:sp>
      <p:sp>
        <p:nvSpPr>
          <p:cNvPr id="51" name="Shape 45"/>
          <p:cNvSpPr/>
          <p:nvPr/>
        </p:nvSpPr>
        <p:spPr>
          <a:xfrm>
            <a:off x="0" y="6620256"/>
            <a:ext cx="12161520" cy="237744"/>
          </a:xfrm>
          <a:prstGeom prst="rect">
            <a:avLst/>
          </a:prstGeom>
          <a:solidFill>
            <a:srgbClr val="07090D"/>
          </a:solidFill>
          <a:ln w="12700">
            <a:solidFill>
              <a:srgbClr val="07090D"/>
            </a:solidFill>
            <a:prstDash val="solid"/>
          </a:ln>
        </p:spPr>
        <p:txBody>
          <a:bodyPr/>
          <a:lstStyle/>
          <a:p>
            <a:endParaRPr lang="en-US"/>
          </a:p>
        </p:txBody>
      </p:sp>
      <p:sp>
        <p:nvSpPr>
          <p:cNvPr id="52" name="Text 46"/>
          <p:cNvSpPr/>
          <p:nvPr/>
        </p:nvSpPr>
        <p:spPr>
          <a:xfrm>
            <a:off x="0" y="6656832"/>
            <a:ext cx="12161520" cy="164592"/>
          </a:xfrm>
          <a:prstGeom prst="rect">
            <a:avLst/>
          </a:prstGeom>
          <a:noFill/>
          <a:ln/>
        </p:spPr>
        <p:txBody>
          <a:bodyPr wrap="square" lIns="0" tIns="0" rIns="0" bIns="0" rtlCol="0" anchor="ctr"/>
          <a:lstStyle/>
          <a:p>
            <a:pPr marL="0" indent="0" algn="ctr">
              <a:buNone/>
            </a:pPr>
            <a:r>
              <a:rPr lang="en-US" sz="700" dirty="0">
                <a:solidFill>
                  <a:srgbClr val="243040"/>
                </a:solidFill>
                <a:latin typeface="Calibri" pitchFamily="34" charset="0"/>
                <a:ea typeface="Calibri" pitchFamily="34" charset="-122"/>
                <a:cs typeface="Calibri" pitchFamily="34" charset="-120"/>
              </a:rPr>
              <a:t>prahari-official.vercel.app   vasudeepkohli@gmail.com   +91 77809 87246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9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594360"/>
          </a:xfrm>
          <a:prstGeom prst="rect">
            <a:avLst/>
          </a:prstGeom>
          <a:solidFill>
            <a:srgbClr val="07090D"/>
          </a:solidFill>
          <a:ln w="12700">
            <a:solidFill>
              <a:srgbClr val="07090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466344" cy="466344"/>
          </a:xfrm>
          <a:prstGeom prst="rect">
            <a:avLst/>
          </a:prstGeom>
        </p:spPr>
      </p:pic>
      <p:sp>
        <p:nvSpPr>
          <p:cNvPr id="4" name="Text 1"/>
          <p:cNvSpPr/>
          <p:nvPr/>
        </p:nvSpPr>
        <p:spPr>
          <a:xfrm>
            <a:off x="804672" y="192024"/>
            <a:ext cx="3657600" cy="219456"/>
          </a:xfrm>
          <a:prstGeom prst="rect">
            <a:avLst/>
          </a:prstGeom>
          <a:noFill/>
          <a:ln/>
        </p:spPr>
        <p:txBody>
          <a:bodyPr wrap="square" lIns="0" tIns="0" rIns="0" bIns="0" rtlCol="0" anchor="ctr"/>
          <a:lstStyle/>
          <a:p>
            <a:pPr marL="0" indent="0">
              <a:buNone/>
            </a:pPr>
            <a:r>
              <a:rPr lang="en-US" sz="780" b="1" kern="0" spc="300" dirty="0">
                <a:solidFill>
                  <a:srgbClr val="8090A2"/>
                </a:solidFill>
                <a:latin typeface="Calibri" pitchFamily="34" charset="0"/>
                <a:ea typeface="Calibri" pitchFamily="34" charset="-122"/>
                <a:cs typeface="Calibri" pitchFamily="34" charset="-120"/>
              </a:rPr>
              <a:t>PRAHARI GRID SYSTEMS</a:t>
            </a:r>
            <a:endParaRPr lang="en-US" sz="780" dirty="0"/>
          </a:p>
        </p:txBody>
      </p:sp>
      <p:sp>
        <p:nvSpPr>
          <p:cNvPr id="5" name="Shape 2"/>
          <p:cNvSpPr/>
          <p:nvPr/>
        </p:nvSpPr>
        <p:spPr>
          <a:xfrm>
            <a:off x="0" y="589788"/>
            <a:ext cx="12161520" cy="18288"/>
          </a:xfrm>
          <a:prstGeom prst="rect">
            <a:avLst/>
          </a:prstGeom>
          <a:solidFill>
            <a:srgbClr val="1A6CF0"/>
          </a:solidFill>
          <a:ln w="12700">
            <a:solidFill>
              <a:srgbClr val="1A6CF0"/>
            </a:solidFill>
            <a:prstDash val="solid"/>
          </a:ln>
        </p:spPr>
        <p:txBody>
          <a:bodyPr/>
          <a:lstStyle/>
          <a:p>
            <a:endParaRPr lang="en-US"/>
          </a:p>
        </p:txBody>
      </p:sp>
      <p:sp>
        <p:nvSpPr>
          <p:cNvPr id="6" name="Text 3"/>
          <p:cNvSpPr/>
          <p:nvPr/>
        </p:nvSpPr>
        <p:spPr>
          <a:xfrm>
            <a:off x="11338560" y="164592"/>
            <a:ext cx="566928" cy="237744"/>
          </a:xfrm>
          <a:prstGeom prst="rect">
            <a:avLst/>
          </a:prstGeom>
          <a:noFill/>
          <a:ln/>
        </p:spPr>
        <p:txBody>
          <a:bodyPr wrap="square" lIns="0" tIns="0" rIns="0" bIns="0" rtlCol="0" anchor="ctr"/>
          <a:lstStyle/>
          <a:p>
            <a:pPr marL="0" indent="0" algn="r">
              <a:buNone/>
            </a:pPr>
            <a:r>
              <a:rPr lang="en-US" sz="1100" b="1" dirty="0">
                <a:solidFill>
                  <a:srgbClr val="243040"/>
                </a:solidFill>
                <a:latin typeface="Calibri" pitchFamily="34" charset="0"/>
                <a:ea typeface="Calibri" pitchFamily="34" charset="-122"/>
                <a:cs typeface="Calibri" pitchFamily="34" charset="-120"/>
              </a:rPr>
              <a:t>05</a:t>
            </a:r>
            <a:endParaRPr lang="en-US" sz="1100" dirty="0"/>
          </a:p>
        </p:txBody>
      </p:sp>
      <p:sp>
        <p:nvSpPr>
          <p:cNvPr id="7" name="Text 4"/>
          <p:cNvSpPr/>
          <p:nvPr/>
        </p:nvSpPr>
        <p:spPr>
          <a:xfrm>
            <a:off x="384048" y="768096"/>
            <a:ext cx="7315200" cy="219456"/>
          </a:xfrm>
          <a:prstGeom prst="rect">
            <a:avLst/>
          </a:prstGeom>
          <a:noFill/>
          <a:ln/>
        </p:spPr>
        <p:txBody>
          <a:bodyPr wrap="square" lIns="0" tIns="0" rIns="0" bIns="0" rtlCol="0" anchor="ctr"/>
          <a:lstStyle/>
          <a:p>
            <a:pPr marL="0" indent="0">
              <a:buNone/>
            </a:pPr>
            <a:r>
              <a:rPr lang="en-US" sz="750" b="1" kern="0" spc="350" dirty="0">
                <a:solidFill>
                  <a:srgbClr val="4D8EF8"/>
                </a:solidFill>
                <a:latin typeface="Calibri" pitchFamily="34" charset="0"/>
                <a:ea typeface="Calibri" pitchFamily="34" charset="-122"/>
                <a:cs typeface="Calibri" pitchFamily="34" charset="-120"/>
              </a:rPr>
              <a:t>DEPLOYMENT ENVIRONMENTS</a:t>
            </a:r>
            <a:endParaRPr lang="en-US" sz="750" dirty="0"/>
          </a:p>
        </p:txBody>
      </p:sp>
      <p:sp>
        <p:nvSpPr>
          <p:cNvPr id="8" name="Text 5"/>
          <p:cNvSpPr/>
          <p:nvPr/>
        </p:nvSpPr>
        <p:spPr>
          <a:xfrm>
            <a:off x="384048" y="969264"/>
            <a:ext cx="7498080" cy="1051560"/>
          </a:xfrm>
          <a:prstGeom prst="rect">
            <a:avLst/>
          </a:prstGeom>
          <a:noFill/>
          <a:ln/>
        </p:spPr>
        <p:txBody>
          <a:bodyPr wrap="square" lIns="0" tIns="0" rIns="0" bIns="0" rtlCol="0" anchor="ctr"/>
          <a:lstStyle/>
          <a:p>
            <a:pPr marL="0" indent="0">
              <a:buNone/>
            </a:pPr>
            <a:r>
              <a:rPr lang="en-US" sz="2600" b="1" dirty="0">
                <a:solidFill>
                  <a:srgbClr val="EDF3FA"/>
                </a:solidFill>
                <a:latin typeface="Cambria" pitchFamily="34" charset="0"/>
                <a:ea typeface="Cambria" pitchFamily="34" charset="-122"/>
                <a:cs typeface="Cambria" pitchFamily="34" charset="-120"/>
              </a:rPr>
              <a:t>Engineered to Deploy</a:t>
            </a:r>
            <a:endParaRPr lang="en-US" sz="2600" dirty="0"/>
          </a:p>
          <a:p>
            <a:pPr marL="0" indent="0">
              <a:buNone/>
            </a:pPr>
            <a:r>
              <a:rPr lang="en-US" sz="2600" b="1" dirty="0">
                <a:solidFill>
                  <a:srgbClr val="EDF3FA"/>
                </a:solidFill>
                <a:latin typeface="Cambria" pitchFamily="34" charset="0"/>
                <a:ea typeface="Cambria" pitchFamily="34" charset="-122"/>
                <a:cs typeface="Cambria" pitchFamily="34" charset="-120"/>
              </a:rPr>
              <a:t>Across Every Public Setting.</a:t>
            </a:r>
            <a:endParaRPr lang="en-US" sz="2600" dirty="0"/>
          </a:p>
        </p:txBody>
      </p:sp>
      <p:sp>
        <p:nvSpPr>
          <p:cNvPr id="9" name="Text 6"/>
          <p:cNvSpPr/>
          <p:nvPr/>
        </p:nvSpPr>
        <p:spPr>
          <a:xfrm>
            <a:off x="384048" y="1993392"/>
            <a:ext cx="7498080" cy="457200"/>
          </a:xfrm>
          <a:prstGeom prst="rect">
            <a:avLst/>
          </a:prstGeom>
          <a:noFill/>
          <a:ln/>
        </p:spPr>
        <p:txBody>
          <a:bodyPr wrap="square" lIns="0" tIns="0" rIns="0" bIns="0" rtlCol="0" anchor="ctr"/>
          <a:lstStyle/>
          <a:p>
            <a:pPr marL="0" indent="0">
              <a:buNone/>
            </a:pPr>
            <a:r>
              <a:rPr lang="en-US" sz="1100" dirty="0">
                <a:solidFill>
                  <a:srgbClr val="8090A2"/>
                </a:solidFill>
                <a:latin typeface="Calibri" pitchFamily="34" charset="0"/>
                <a:ea typeface="Calibri" pitchFamily="34" charset="-122"/>
                <a:cs typeface="Calibri" pitchFamily="34" charset="-120"/>
              </a:rPr>
              <a:t>From a single campus to a city-wide network, PRAHARI is planned around where people already gather.</a:t>
            </a:r>
            <a:endParaRPr lang="en-US" sz="1100" dirty="0"/>
          </a:p>
        </p:txBody>
      </p:sp>
      <p:sp>
        <p:nvSpPr>
          <p:cNvPr id="10" name="Shape 7"/>
          <p:cNvSpPr/>
          <p:nvPr/>
        </p:nvSpPr>
        <p:spPr>
          <a:xfrm>
            <a:off x="8869680" y="914400"/>
            <a:ext cx="2907792" cy="141732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11" name="Shape 8"/>
          <p:cNvSpPr/>
          <p:nvPr/>
        </p:nvSpPr>
        <p:spPr>
          <a:xfrm>
            <a:off x="8869680" y="914400"/>
            <a:ext cx="2907792" cy="36576"/>
          </a:xfrm>
          <a:prstGeom prst="rect">
            <a:avLst/>
          </a:prstGeom>
          <a:solidFill>
            <a:srgbClr val="1A6CF0"/>
          </a:solidFill>
          <a:ln w="12700">
            <a:solidFill>
              <a:srgbClr val="1A6CF0"/>
            </a:solidFill>
            <a:prstDash val="solid"/>
          </a:ln>
        </p:spPr>
        <p:txBody>
          <a:bodyPr/>
          <a:lstStyle/>
          <a:p>
            <a:endParaRPr lang="en-US"/>
          </a:p>
        </p:txBody>
      </p:sp>
      <p:sp>
        <p:nvSpPr>
          <p:cNvPr id="12" name="Text 9"/>
          <p:cNvSpPr/>
          <p:nvPr/>
        </p:nvSpPr>
        <p:spPr>
          <a:xfrm>
            <a:off x="9052560" y="1024128"/>
            <a:ext cx="2560320" cy="237744"/>
          </a:xfrm>
          <a:prstGeom prst="rect">
            <a:avLst/>
          </a:prstGeom>
          <a:noFill/>
          <a:ln/>
        </p:spPr>
        <p:txBody>
          <a:bodyPr wrap="square" lIns="0" tIns="0" rIns="0" bIns="0" rtlCol="0" anchor="ctr"/>
          <a:lstStyle/>
          <a:p>
            <a:pPr marL="0" indent="0">
              <a:buNone/>
            </a:pPr>
            <a:r>
              <a:rPr lang="en-US" sz="750" b="1" kern="0" spc="150" dirty="0">
                <a:solidFill>
                  <a:srgbClr val="4D8EF8"/>
                </a:solidFill>
                <a:latin typeface="Calibri" pitchFamily="34" charset="0"/>
                <a:ea typeface="Calibri" pitchFamily="34" charset="-122"/>
                <a:cs typeface="Calibri" pitchFamily="34" charset="-120"/>
              </a:rPr>
              <a:t>DEPLOYMENT CATEGORIES</a:t>
            </a:r>
            <a:endParaRPr lang="en-US" sz="750" dirty="0"/>
          </a:p>
        </p:txBody>
      </p:sp>
      <p:sp>
        <p:nvSpPr>
          <p:cNvPr id="13" name="Text 10"/>
          <p:cNvSpPr/>
          <p:nvPr/>
        </p:nvSpPr>
        <p:spPr>
          <a:xfrm>
            <a:off x="9052560" y="1225296"/>
            <a:ext cx="1280160" cy="777240"/>
          </a:xfrm>
          <a:prstGeom prst="rect">
            <a:avLst/>
          </a:prstGeom>
          <a:noFill/>
          <a:ln/>
        </p:spPr>
        <p:txBody>
          <a:bodyPr wrap="square" lIns="0" tIns="0" rIns="0" bIns="0" rtlCol="0" anchor="ctr"/>
          <a:lstStyle/>
          <a:p>
            <a:pPr marL="0" indent="0">
              <a:buNone/>
            </a:pPr>
            <a:r>
              <a:rPr lang="en-US" sz="4200" b="1" dirty="0">
                <a:solidFill>
                  <a:srgbClr val="EDF3FA"/>
                </a:solidFill>
                <a:latin typeface="Cambria" pitchFamily="34" charset="0"/>
                <a:ea typeface="Cambria" pitchFamily="34" charset="-122"/>
                <a:cs typeface="Cambria" pitchFamily="34" charset="-120"/>
              </a:rPr>
              <a:t>08</a:t>
            </a:r>
            <a:endParaRPr lang="en-US" sz="4200" dirty="0"/>
          </a:p>
        </p:txBody>
      </p:sp>
      <p:sp>
        <p:nvSpPr>
          <p:cNvPr id="14" name="Text 11"/>
          <p:cNvSpPr/>
          <p:nvPr/>
        </p:nvSpPr>
        <p:spPr>
          <a:xfrm>
            <a:off x="10104120" y="1371600"/>
            <a:ext cx="1554480" cy="548640"/>
          </a:xfrm>
          <a:prstGeom prst="rect">
            <a:avLst/>
          </a:prstGeom>
          <a:noFill/>
          <a:ln/>
        </p:spPr>
        <p:txBody>
          <a:bodyPr wrap="square" lIns="0" tIns="0" rIns="0" bIns="0" rtlCol="0" anchor="ctr"/>
          <a:lstStyle/>
          <a:p>
            <a:pPr marL="0" indent="0">
              <a:buNone/>
            </a:pPr>
            <a:r>
              <a:rPr lang="en-US" sz="900" dirty="0">
                <a:solidFill>
                  <a:srgbClr val="56687A"/>
                </a:solidFill>
                <a:latin typeface="Calibri" pitchFamily="34" charset="0"/>
                <a:ea typeface="Calibri" pitchFamily="34" charset="-122"/>
                <a:cs typeface="Calibri" pitchFamily="34" charset="-120"/>
              </a:rPr>
              <a:t>Public environment</a:t>
            </a:r>
            <a:endParaRPr lang="en-US" sz="900" dirty="0"/>
          </a:p>
          <a:p>
            <a:pPr marL="0" indent="0">
              <a:buNone/>
            </a:pPr>
            <a:r>
              <a:rPr lang="en-US" sz="900" dirty="0">
                <a:solidFill>
                  <a:srgbClr val="56687A"/>
                </a:solidFill>
                <a:latin typeface="Calibri" pitchFamily="34" charset="0"/>
                <a:ea typeface="Calibri" pitchFamily="34" charset="-122"/>
                <a:cs typeface="Calibri" pitchFamily="34" charset="-120"/>
              </a:rPr>
              <a:t>types supported</a:t>
            </a:r>
            <a:endParaRPr lang="en-US" sz="900" dirty="0"/>
          </a:p>
        </p:txBody>
      </p:sp>
      <p:sp>
        <p:nvSpPr>
          <p:cNvPr id="15" name="Text 12"/>
          <p:cNvSpPr/>
          <p:nvPr/>
        </p:nvSpPr>
        <p:spPr>
          <a:xfrm>
            <a:off x="384048" y="2615184"/>
            <a:ext cx="7315200" cy="237744"/>
          </a:xfrm>
          <a:prstGeom prst="rect">
            <a:avLst/>
          </a:prstGeom>
          <a:noFill/>
          <a:ln/>
        </p:spPr>
        <p:txBody>
          <a:bodyPr wrap="square" lIns="0" tIns="0" rIns="0" bIns="0" rtlCol="0" anchor="ctr"/>
          <a:lstStyle/>
          <a:p>
            <a:pPr marL="0" indent="0">
              <a:buNone/>
            </a:pPr>
            <a:r>
              <a:rPr lang="en-US" sz="800" b="1" kern="0" spc="200" dirty="0">
                <a:solidFill>
                  <a:srgbClr val="56687A"/>
                </a:solidFill>
                <a:latin typeface="Calibri" pitchFamily="34" charset="0"/>
                <a:ea typeface="Calibri" pitchFamily="34" charset="-122"/>
                <a:cs typeface="Calibri" pitchFamily="34" charset="-120"/>
              </a:rPr>
              <a:t>PRIMARY DEPLOYMENT CONTEXTS</a:t>
            </a:r>
            <a:endParaRPr lang="en-US" sz="800" dirty="0"/>
          </a:p>
        </p:txBody>
      </p:sp>
      <p:sp>
        <p:nvSpPr>
          <p:cNvPr id="16" name="Shape 13"/>
          <p:cNvSpPr/>
          <p:nvPr/>
        </p:nvSpPr>
        <p:spPr>
          <a:xfrm>
            <a:off x="384048" y="2926080"/>
            <a:ext cx="2816352" cy="196596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17" name="Shape 14"/>
          <p:cNvSpPr/>
          <p:nvPr/>
        </p:nvSpPr>
        <p:spPr>
          <a:xfrm>
            <a:off x="384048" y="2926080"/>
            <a:ext cx="36576" cy="1965960"/>
          </a:xfrm>
          <a:prstGeom prst="rect">
            <a:avLst/>
          </a:prstGeom>
          <a:solidFill>
            <a:srgbClr val="1A6CF0"/>
          </a:solidFill>
          <a:ln w="12700">
            <a:solidFill>
              <a:srgbClr val="1A6CF0"/>
            </a:solidFill>
            <a:prstDash val="solid"/>
          </a:ln>
        </p:spPr>
        <p:txBody>
          <a:bodyPr/>
          <a:lstStyle/>
          <a:p>
            <a:endParaRPr lang="en-US"/>
          </a:p>
        </p:txBody>
      </p:sp>
      <p:sp>
        <p:nvSpPr>
          <p:cNvPr id="18" name="Text 15"/>
          <p:cNvSpPr/>
          <p:nvPr/>
        </p:nvSpPr>
        <p:spPr>
          <a:xfrm>
            <a:off x="585216" y="3072384"/>
            <a:ext cx="914400" cy="365760"/>
          </a:xfrm>
          <a:prstGeom prst="rect">
            <a:avLst/>
          </a:prstGeom>
          <a:noFill/>
          <a:ln/>
        </p:spPr>
        <p:txBody>
          <a:bodyPr wrap="square" lIns="0" tIns="0" rIns="0" bIns="0" rtlCol="0" anchor="ctr"/>
          <a:lstStyle/>
          <a:p>
            <a:pPr marL="0" indent="0">
              <a:buNone/>
            </a:pPr>
            <a:r>
              <a:rPr lang="en-US" sz="1600" b="1" dirty="0">
                <a:solidFill>
                  <a:srgbClr val="243040"/>
                </a:solidFill>
                <a:latin typeface="Cambria" pitchFamily="34" charset="0"/>
                <a:ea typeface="Cambria" pitchFamily="34" charset="-122"/>
                <a:cs typeface="Cambria" pitchFamily="34" charset="-120"/>
              </a:rPr>
              <a:t>01</a:t>
            </a:r>
            <a:endParaRPr lang="en-US" sz="1600" dirty="0"/>
          </a:p>
        </p:txBody>
      </p:sp>
      <p:pic>
        <p:nvPicPr>
          <p:cNvPr id="19" name="Image 1" descr="preencoded.png"/>
          <p:cNvPicPr>
            <a:picLocks noChangeAspect="1"/>
          </p:cNvPicPr>
          <p:nvPr/>
        </p:nvPicPr>
        <p:blipFill>
          <a:blip r:embed="rId4"/>
          <a:stretch>
            <a:fillRect/>
          </a:stretch>
        </p:blipFill>
        <p:spPr>
          <a:xfrm>
            <a:off x="2542032" y="3108960"/>
            <a:ext cx="420624" cy="420624"/>
          </a:xfrm>
          <a:prstGeom prst="rect">
            <a:avLst/>
          </a:prstGeom>
        </p:spPr>
      </p:pic>
      <p:sp>
        <p:nvSpPr>
          <p:cNvPr id="20" name="Text 16"/>
          <p:cNvSpPr/>
          <p:nvPr/>
        </p:nvSpPr>
        <p:spPr>
          <a:xfrm>
            <a:off x="585216" y="3712464"/>
            <a:ext cx="2450592" cy="365760"/>
          </a:xfrm>
          <a:prstGeom prst="rect">
            <a:avLst/>
          </a:prstGeom>
          <a:noFill/>
          <a:ln/>
        </p:spPr>
        <p:txBody>
          <a:bodyPr wrap="square" lIns="0" tIns="0" rIns="0" bIns="0" rtlCol="0" anchor="ctr"/>
          <a:lstStyle/>
          <a:p>
            <a:pPr marL="0" indent="0">
              <a:buNone/>
            </a:pPr>
            <a:r>
              <a:rPr lang="en-US" sz="1400" b="1" dirty="0">
                <a:solidFill>
                  <a:srgbClr val="EDF3FA"/>
                </a:solidFill>
                <a:latin typeface="Calibri" pitchFamily="34" charset="0"/>
                <a:ea typeface="Calibri" pitchFamily="34" charset="-122"/>
                <a:cs typeface="Calibri" pitchFamily="34" charset="-120"/>
              </a:rPr>
              <a:t>Smart Cities</a:t>
            </a:r>
            <a:endParaRPr lang="en-US" sz="1400" dirty="0"/>
          </a:p>
        </p:txBody>
      </p:sp>
      <p:sp>
        <p:nvSpPr>
          <p:cNvPr id="21" name="Text 17"/>
          <p:cNvSpPr/>
          <p:nvPr/>
        </p:nvSpPr>
        <p:spPr>
          <a:xfrm>
            <a:off x="585216" y="4096512"/>
            <a:ext cx="2450592" cy="640080"/>
          </a:xfrm>
          <a:prstGeom prst="rect">
            <a:avLst/>
          </a:prstGeom>
          <a:noFill/>
          <a:ln/>
        </p:spPr>
        <p:txBody>
          <a:bodyPr wrap="square" lIns="0" tIns="0" rIns="0" bIns="0" rtlCol="0" anchor="ctr"/>
          <a:lstStyle/>
          <a:p>
            <a:pPr marL="0" indent="0">
              <a:buNone/>
            </a:pPr>
            <a:r>
              <a:rPr lang="en-US" sz="950" dirty="0">
                <a:solidFill>
                  <a:srgbClr val="8090A2"/>
                </a:solidFill>
                <a:latin typeface="Calibri" pitchFamily="34" charset="0"/>
                <a:ea typeface="Calibri" pitchFamily="34" charset="-122"/>
                <a:cs typeface="Calibri" pitchFamily="34" charset="-120"/>
              </a:rPr>
              <a:t>Municipal districts and smart city corridors</a:t>
            </a:r>
            <a:endParaRPr lang="en-US" sz="950" dirty="0"/>
          </a:p>
        </p:txBody>
      </p:sp>
      <p:sp>
        <p:nvSpPr>
          <p:cNvPr id="22" name="Shape 18"/>
          <p:cNvSpPr/>
          <p:nvPr/>
        </p:nvSpPr>
        <p:spPr>
          <a:xfrm>
            <a:off x="3342132" y="2926080"/>
            <a:ext cx="2816352" cy="196596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23" name="Shape 19"/>
          <p:cNvSpPr/>
          <p:nvPr/>
        </p:nvSpPr>
        <p:spPr>
          <a:xfrm>
            <a:off x="3342132" y="2926080"/>
            <a:ext cx="36576" cy="1965960"/>
          </a:xfrm>
          <a:prstGeom prst="rect">
            <a:avLst/>
          </a:prstGeom>
          <a:solidFill>
            <a:srgbClr val="1A6CF0"/>
          </a:solidFill>
          <a:ln w="12700">
            <a:solidFill>
              <a:srgbClr val="1A6CF0"/>
            </a:solidFill>
            <a:prstDash val="solid"/>
          </a:ln>
        </p:spPr>
        <p:txBody>
          <a:bodyPr/>
          <a:lstStyle/>
          <a:p>
            <a:endParaRPr lang="en-US"/>
          </a:p>
        </p:txBody>
      </p:sp>
      <p:sp>
        <p:nvSpPr>
          <p:cNvPr id="24" name="Text 20"/>
          <p:cNvSpPr/>
          <p:nvPr/>
        </p:nvSpPr>
        <p:spPr>
          <a:xfrm>
            <a:off x="3543300" y="3072384"/>
            <a:ext cx="914400" cy="365760"/>
          </a:xfrm>
          <a:prstGeom prst="rect">
            <a:avLst/>
          </a:prstGeom>
          <a:noFill/>
          <a:ln/>
        </p:spPr>
        <p:txBody>
          <a:bodyPr wrap="square" lIns="0" tIns="0" rIns="0" bIns="0" rtlCol="0" anchor="ctr"/>
          <a:lstStyle/>
          <a:p>
            <a:pPr marL="0" indent="0">
              <a:buNone/>
            </a:pPr>
            <a:r>
              <a:rPr lang="en-US" sz="1600" b="1" dirty="0">
                <a:solidFill>
                  <a:srgbClr val="243040"/>
                </a:solidFill>
                <a:latin typeface="Cambria" pitchFamily="34" charset="0"/>
                <a:ea typeface="Cambria" pitchFamily="34" charset="-122"/>
                <a:cs typeface="Cambria" pitchFamily="34" charset="-120"/>
              </a:rPr>
              <a:t>02</a:t>
            </a:r>
            <a:endParaRPr lang="en-US" sz="1600" dirty="0"/>
          </a:p>
        </p:txBody>
      </p:sp>
      <p:pic>
        <p:nvPicPr>
          <p:cNvPr id="25" name="Image 2" descr="preencoded.png"/>
          <p:cNvPicPr>
            <a:picLocks noChangeAspect="1"/>
          </p:cNvPicPr>
          <p:nvPr/>
        </p:nvPicPr>
        <p:blipFill>
          <a:blip r:embed="rId5"/>
          <a:stretch>
            <a:fillRect/>
          </a:stretch>
        </p:blipFill>
        <p:spPr>
          <a:xfrm>
            <a:off x="5500116" y="3108960"/>
            <a:ext cx="420624" cy="420624"/>
          </a:xfrm>
          <a:prstGeom prst="rect">
            <a:avLst/>
          </a:prstGeom>
        </p:spPr>
      </p:pic>
      <p:sp>
        <p:nvSpPr>
          <p:cNvPr id="26" name="Text 21"/>
          <p:cNvSpPr/>
          <p:nvPr/>
        </p:nvSpPr>
        <p:spPr>
          <a:xfrm>
            <a:off x="3543300" y="3712464"/>
            <a:ext cx="2450592" cy="365760"/>
          </a:xfrm>
          <a:prstGeom prst="rect">
            <a:avLst/>
          </a:prstGeom>
          <a:noFill/>
          <a:ln/>
        </p:spPr>
        <p:txBody>
          <a:bodyPr wrap="square" lIns="0" tIns="0" rIns="0" bIns="0" rtlCol="0" anchor="ctr"/>
          <a:lstStyle/>
          <a:p>
            <a:pPr marL="0" indent="0">
              <a:buNone/>
            </a:pPr>
            <a:r>
              <a:rPr lang="en-US" sz="1400" b="1" dirty="0">
                <a:solidFill>
                  <a:srgbClr val="EDF3FA"/>
                </a:solidFill>
                <a:latin typeface="Calibri" pitchFamily="34" charset="0"/>
                <a:ea typeface="Calibri" pitchFamily="34" charset="-122"/>
                <a:cs typeface="Calibri" pitchFamily="34" charset="-120"/>
              </a:rPr>
              <a:t>Universities</a:t>
            </a:r>
            <a:endParaRPr lang="en-US" sz="1400" dirty="0"/>
          </a:p>
        </p:txBody>
      </p:sp>
      <p:sp>
        <p:nvSpPr>
          <p:cNvPr id="27" name="Text 22"/>
          <p:cNvSpPr/>
          <p:nvPr/>
        </p:nvSpPr>
        <p:spPr>
          <a:xfrm>
            <a:off x="3543300" y="4096512"/>
            <a:ext cx="2450592" cy="640080"/>
          </a:xfrm>
          <a:prstGeom prst="rect">
            <a:avLst/>
          </a:prstGeom>
          <a:noFill/>
          <a:ln/>
        </p:spPr>
        <p:txBody>
          <a:bodyPr wrap="square" lIns="0" tIns="0" rIns="0" bIns="0" rtlCol="0" anchor="ctr"/>
          <a:lstStyle/>
          <a:p>
            <a:pPr marL="0" indent="0">
              <a:buNone/>
            </a:pPr>
            <a:r>
              <a:rPr lang="en-US" sz="950" dirty="0">
                <a:solidFill>
                  <a:srgbClr val="8090A2"/>
                </a:solidFill>
                <a:latin typeface="Calibri" pitchFamily="34" charset="0"/>
                <a:ea typeface="Calibri" pitchFamily="34" charset="-122"/>
                <a:cs typeface="Calibri" pitchFamily="34" charset="-120"/>
              </a:rPr>
              <a:t>Campus grounds and student precincts</a:t>
            </a:r>
            <a:endParaRPr lang="en-US" sz="950" dirty="0"/>
          </a:p>
        </p:txBody>
      </p:sp>
      <p:sp>
        <p:nvSpPr>
          <p:cNvPr id="28" name="Shape 23"/>
          <p:cNvSpPr/>
          <p:nvPr/>
        </p:nvSpPr>
        <p:spPr>
          <a:xfrm>
            <a:off x="6300216" y="2926080"/>
            <a:ext cx="2816352" cy="196596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29" name="Shape 24"/>
          <p:cNvSpPr/>
          <p:nvPr/>
        </p:nvSpPr>
        <p:spPr>
          <a:xfrm>
            <a:off x="6300216" y="2926080"/>
            <a:ext cx="36576" cy="1965960"/>
          </a:xfrm>
          <a:prstGeom prst="rect">
            <a:avLst/>
          </a:prstGeom>
          <a:solidFill>
            <a:srgbClr val="1A6CF0"/>
          </a:solidFill>
          <a:ln w="12700">
            <a:solidFill>
              <a:srgbClr val="1A6CF0"/>
            </a:solidFill>
            <a:prstDash val="solid"/>
          </a:ln>
        </p:spPr>
        <p:txBody>
          <a:bodyPr/>
          <a:lstStyle/>
          <a:p>
            <a:endParaRPr lang="en-US"/>
          </a:p>
        </p:txBody>
      </p:sp>
      <p:sp>
        <p:nvSpPr>
          <p:cNvPr id="30" name="Text 25"/>
          <p:cNvSpPr/>
          <p:nvPr/>
        </p:nvSpPr>
        <p:spPr>
          <a:xfrm>
            <a:off x="6501384" y="3072384"/>
            <a:ext cx="914400" cy="365760"/>
          </a:xfrm>
          <a:prstGeom prst="rect">
            <a:avLst/>
          </a:prstGeom>
          <a:noFill/>
          <a:ln/>
        </p:spPr>
        <p:txBody>
          <a:bodyPr wrap="square" lIns="0" tIns="0" rIns="0" bIns="0" rtlCol="0" anchor="ctr"/>
          <a:lstStyle/>
          <a:p>
            <a:pPr marL="0" indent="0">
              <a:buNone/>
            </a:pPr>
            <a:r>
              <a:rPr lang="en-US" sz="1600" b="1" dirty="0">
                <a:solidFill>
                  <a:srgbClr val="243040"/>
                </a:solidFill>
                <a:latin typeface="Cambria" pitchFamily="34" charset="0"/>
                <a:ea typeface="Cambria" pitchFamily="34" charset="-122"/>
                <a:cs typeface="Cambria" pitchFamily="34" charset="-120"/>
              </a:rPr>
              <a:t>03</a:t>
            </a:r>
            <a:endParaRPr lang="en-US" sz="1600" dirty="0"/>
          </a:p>
        </p:txBody>
      </p:sp>
      <p:pic>
        <p:nvPicPr>
          <p:cNvPr id="31" name="Image 3" descr="preencoded.png"/>
          <p:cNvPicPr>
            <a:picLocks noChangeAspect="1"/>
          </p:cNvPicPr>
          <p:nvPr/>
        </p:nvPicPr>
        <p:blipFill>
          <a:blip r:embed="rId6"/>
          <a:stretch>
            <a:fillRect/>
          </a:stretch>
        </p:blipFill>
        <p:spPr>
          <a:xfrm>
            <a:off x="8458200" y="3108960"/>
            <a:ext cx="420624" cy="420624"/>
          </a:xfrm>
          <a:prstGeom prst="rect">
            <a:avLst/>
          </a:prstGeom>
        </p:spPr>
      </p:pic>
      <p:sp>
        <p:nvSpPr>
          <p:cNvPr id="32" name="Text 26"/>
          <p:cNvSpPr/>
          <p:nvPr/>
        </p:nvSpPr>
        <p:spPr>
          <a:xfrm>
            <a:off x="6501384" y="3712464"/>
            <a:ext cx="2450592" cy="365760"/>
          </a:xfrm>
          <a:prstGeom prst="rect">
            <a:avLst/>
          </a:prstGeom>
          <a:noFill/>
          <a:ln/>
        </p:spPr>
        <p:txBody>
          <a:bodyPr wrap="square" lIns="0" tIns="0" rIns="0" bIns="0" rtlCol="0" anchor="ctr"/>
          <a:lstStyle/>
          <a:p>
            <a:pPr marL="0" indent="0">
              <a:buNone/>
            </a:pPr>
            <a:r>
              <a:rPr lang="en-US" sz="1400" b="1" dirty="0">
                <a:solidFill>
                  <a:srgbClr val="EDF3FA"/>
                </a:solidFill>
                <a:latin typeface="Calibri" pitchFamily="34" charset="0"/>
                <a:ea typeface="Calibri" pitchFamily="34" charset="-122"/>
                <a:cs typeface="Calibri" pitchFamily="34" charset="-120"/>
              </a:rPr>
              <a:t>Metro Stations</a:t>
            </a:r>
            <a:endParaRPr lang="en-US" sz="1400" dirty="0"/>
          </a:p>
        </p:txBody>
      </p:sp>
      <p:sp>
        <p:nvSpPr>
          <p:cNvPr id="33" name="Text 27"/>
          <p:cNvSpPr/>
          <p:nvPr/>
        </p:nvSpPr>
        <p:spPr>
          <a:xfrm>
            <a:off x="6501384" y="4096512"/>
            <a:ext cx="2450592" cy="640080"/>
          </a:xfrm>
          <a:prstGeom prst="rect">
            <a:avLst/>
          </a:prstGeom>
          <a:noFill/>
          <a:ln/>
        </p:spPr>
        <p:txBody>
          <a:bodyPr wrap="square" lIns="0" tIns="0" rIns="0" bIns="0" rtlCol="0" anchor="ctr"/>
          <a:lstStyle/>
          <a:p>
            <a:pPr marL="0" indent="0">
              <a:buNone/>
            </a:pPr>
            <a:r>
              <a:rPr lang="en-US" sz="950" dirty="0">
                <a:solidFill>
                  <a:srgbClr val="8090A2"/>
                </a:solidFill>
                <a:latin typeface="Calibri" pitchFamily="34" charset="0"/>
                <a:ea typeface="Calibri" pitchFamily="34" charset="-122"/>
                <a:cs typeface="Calibri" pitchFamily="34" charset="-120"/>
              </a:rPr>
              <a:t>Platforms, concourses and station exits</a:t>
            </a:r>
            <a:endParaRPr lang="en-US" sz="950" dirty="0"/>
          </a:p>
        </p:txBody>
      </p:sp>
      <p:sp>
        <p:nvSpPr>
          <p:cNvPr id="34" name="Shape 28"/>
          <p:cNvSpPr/>
          <p:nvPr/>
        </p:nvSpPr>
        <p:spPr>
          <a:xfrm>
            <a:off x="9258300" y="2926080"/>
            <a:ext cx="2816352" cy="196596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35" name="Shape 29"/>
          <p:cNvSpPr/>
          <p:nvPr/>
        </p:nvSpPr>
        <p:spPr>
          <a:xfrm>
            <a:off x="9258300" y="2926080"/>
            <a:ext cx="36576" cy="1965960"/>
          </a:xfrm>
          <a:prstGeom prst="rect">
            <a:avLst/>
          </a:prstGeom>
          <a:solidFill>
            <a:srgbClr val="1A6CF0"/>
          </a:solidFill>
          <a:ln w="12700">
            <a:solidFill>
              <a:srgbClr val="1A6CF0"/>
            </a:solidFill>
            <a:prstDash val="solid"/>
          </a:ln>
        </p:spPr>
        <p:txBody>
          <a:bodyPr/>
          <a:lstStyle/>
          <a:p>
            <a:endParaRPr lang="en-US"/>
          </a:p>
        </p:txBody>
      </p:sp>
      <p:sp>
        <p:nvSpPr>
          <p:cNvPr id="36" name="Text 30"/>
          <p:cNvSpPr/>
          <p:nvPr/>
        </p:nvSpPr>
        <p:spPr>
          <a:xfrm>
            <a:off x="9459468" y="3072384"/>
            <a:ext cx="914400" cy="365760"/>
          </a:xfrm>
          <a:prstGeom prst="rect">
            <a:avLst/>
          </a:prstGeom>
          <a:noFill/>
          <a:ln/>
        </p:spPr>
        <p:txBody>
          <a:bodyPr wrap="square" lIns="0" tIns="0" rIns="0" bIns="0" rtlCol="0" anchor="ctr"/>
          <a:lstStyle/>
          <a:p>
            <a:pPr marL="0" indent="0">
              <a:buNone/>
            </a:pPr>
            <a:r>
              <a:rPr lang="en-US" sz="1600" b="1" dirty="0">
                <a:solidFill>
                  <a:srgbClr val="243040"/>
                </a:solidFill>
                <a:latin typeface="Cambria" pitchFamily="34" charset="0"/>
                <a:ea typeface="Cambria" pitchFamily="34" charset="-122"/>
                <a:cs typeface="Cambria" pitchFamily="34" charset="-120"/>
              </a:rPr>
              <a:t>04</a:t>
            </a:r>
            <a:endParaRPr lang="en-US" sz="1600" dirty="0"/>
          </a:p>
        </p:txBody>
      </p:sp>
      <p:pic>
        <p:nvPicPr>
          <p:cNvPr id="37" name="Image 4" descr="preencoded.png"/>
          <p:cNvPicPr>
            <a:picLocks noChangeAspect="1"/>
          </p:cNvPicPr>
          <p:nvPr/>
        </p:nvPicPr>
        <p:blipFill>
          <a:blip r:embed="rId7"/>
          <a:stretch>
            <a:fillRect/>
          </a:stretch>
        </p:blipFill>
        <p:spPr>
          <a:xfrm>
            <a:off x="11416284" y="3108960"/>
            <a:ext cx="420624" cy="420624"/>
          </a:xfrm>
          <a:prstGeom prst="rect">
            <a:avLst/>
          </a:prstGeom>
        </p:spPr>
      </p:pic>
      <p:sp>
        <p:nvSpPr>
          <p:cNvPr id="38" name="Text 31"/>
          <p:cNvSpPr/>
          <p:nvPr/>
        </p:nvSpPr>
        <p:spPr>
          <a:xfrm>
            <a:off x="9459468" y="3712464"/>
            <a:ext cx="2450592" cy="365760"/>
          </a:xfrm>
          <a:prstGeom prst="rect">
            <a:avLst/>
          </a:prstGeom>
          <a:noFill/>
          <a:ln/>
        </p:spPr>
        <p:txBody>
          <a:bodyPr wrap="square" lIns="0" tIns="0" rIns="0" bIns="0" rtlCol="0" anchor="ctr"/>
          <a:lstStyle/>
          <a:p>
            <a:pPr marL="0" indent="0">
              <a:buNone/>
            </a:pPr>
            <a:r>
              <a:rPr lang="en-US" sz="1400" b="1" dirty="0">
                <a:solidFill>
                  <a:srgbClr val="EDF3FA"/>
                </a:solidFill>
                <a:latin typeface="Calibri" pitchFamily="34" charset="0"/>
                <a:ea typeface="Calibri" pitchFamily="34" charset="-122"/>
                <a:cs typeface="Calibri" pitchFamily="34" charset="-120"/>
              </a:rPr>
              <a:t>Airports</a:t>
            </a:r>
            <a:endParaRPr lang="en-US" sz="1400" dirty="0"/>
          </a:p>
        </p:txBody>
      </p:sp>
      <p:sp>
        <p:nvSpPr>
          <p:cNvPr id="39" name="Text 32"/>
          <p:cNvSpPr/>
          <p:nvPr/>
        </p:nvSpPr>
        <p:spPr>
          <a:xfrm>
            <a:off x="9459468" y="4096512"/>
            <a:ext cx="2450592" cy="640080"/>
          </a:xfrm>
          <a:prstGeom prst="rect">
            <a:avLst/>
          </a:prstGeom>
          <a:noFill/>
          <a:ln/>
        </p:spPr>
        <p:txBody>
          <a:bodyPr wrap="square" lIns="0" tIns="0" rIns="0" bIns="0" rtlCol="0" anchor="ctr"/>
          <a:lstStyle/>
          <a:p>
            <a:pPr marL="0" indent="0">
              <a:buNone/>
            </a:pPr>
            <a:r>
              <a:rPr lang="en-US" sz="950" dirty="0">
                <a:solidFill>
                  <a:srgbClr val="8090A2"/>
                </a:solidFill>
                <a:latin typeface="Calibri" pitchFamily="34" charset="0"/>
                <a:ea typeface="Calibri" pitchFamily="34" charset="-122"/>
                <a:cs typeface="Calibri" pitchFamily="34" charset="-120"/>
              </a:rPr>
              <a:t>Terminal entrances and car park zones</a:t>
            </a:r>
            <a:endParaRPr lang="en-US" sz="950" dirty="0"/>
          </a:p>
        </p:txBody>
      </p:sp>
      <p:sp>
        <p:nvSpPr>
          <p:cNvPr id="40" name="Text 33"/>
          <p:cNvSpPr/>
          <p:nvPr/>
        </p:nvSpPr>
        <p:spPr>
          <a:xfrm>
            <a:off x="384048" y="5166360"/>
            <a:ext cx="7315200" cy="237744"/>
          </a:xfrm>
          <a:prstGeom prst="rect">
            <a:avLst/>
          </a:prstGeom>
          <a:noFill/>
          <a:ln/>
        </p:spPr>
        <p:txBody>
          <a:bodyPr wrap="square" lIns="0" tIns="0" rIns="0" bIns="0" rtlCol="0" anchor="ctr"/>
          <a:lstStyle/>
          <a:p>
            <a:pPr marL="0" indent="0">
              <a:buNone/>
            </a:pPr>
            <a:r>
              <a:rPr lang="en-US" sz="800" b="1" kern="0" spc="200" dirty="0">
                <a:solidFill>
                  <a:srgbClr val="56687A"/>
                </a:solidFill>
                <a:latin typeface="Calibri" pitchFamily="34" charset="0"/>
                <a:ea typeface="Calibri" pitchFamily="34" charset="-122"/>
                <a:cs typeface="Calibri" pitchFamily="34" charset="-120"/>
              </a:rPr>
              <a:t>ADDITIONAL DEPLOYMENT CONTEXTS</a:t>
            </a:r>
            <a:endParaRPr lang="en-US" sz="800" dirty="0"/>
          </a:p>
        </p:txBody>
      </p:sp>
      <p:sp>
        <p:nvSpPr>
          <p:cNvPr id="41" name="Shape 34"/>
          <p:cNvSpPr/>
          <p:nvPr/>
        </p:nvSpPr>
        <p:spPr>
          <a:xfrm>
            <a:off x="384048" y="5468112"/>
            <a:ext cx="2816352" cy="841248"/>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42" name="Image 5" descr="preencoded.png"/>
          <p:cNvPicPr>
            <a:picLocks noChangeAspect="1"/>
          </p:cNvPicPr>
          <p:nvPr/>
        </p:nvPicPr>
        <p:blipFill>
          <a:blip r:embed="rId8"/>
          <a:stretch>
            <a:fillRect/>
          </a:stretch>
        </p:blipFill>
        <p:spPr>
          <a:xfrm>
            <a:off x="548640" y="5678424"/>
            <a:ext cx="420624" cy="420624"/>
          </a:xfrm>
          <a:prstGeom prst="rect">
            <a:avLst/>
          </a:prstGeom>
        </p:spPr>
      </p:pic>
      <p:sp>
        <p:nvSpPr>
          <p:cNvPr id="43" name="Text 35"/>
          <p:cNvSpPr/>
          <p:nvPr/>
        </p:nvSpPr>
        <p:spPr>
          <a:xfrm>
            <a:off x="1060704" y="5577840"/>
            <a:ext cx="2029968" cy="292608"/>
          </a:xfrm>
          <a:prstGeom prst="rect">
            <a:avLst/>
          </a:prstGeom>
          <a:noFill/>
          <a:ln/>
        </p:spPr>
        <p:txBody>
          <a:bodyPr wrap="square" lIns="0" tIns="0" rIns="0" bIns="0" rtlCol="0" anchor="ctr"/>
          <a:lstStyle/>
          <a:p>
            <a:pPr marL="0" indent="0">
              <a:buNone/>
            </a:pPr>
            <a:r>
              <a:rPr lang="en-US" sz="1100" b="1" dirty="0">
                <a:solidFill>
                  <a:srgbClr val="EDF3FA"/>
                </a:solidFill>
                <a:latin typeface="Calibri" pitchFamily="34" charset="0"/>
                <a:ea typeface="Calibri" pitchFamily="34" charset="-122"/>
                <a:cs typeface="Calibri" pitchFamily="34" charset="-120"/>
              </a:rPr>
              <a:t>Commercial Areas</a:t>
            </a:r>
            <a:endParaRPr lang="en-US" sz="1100" dirty="0"/>
          </a:p>
        </p:txBody>
      </p:sp>
      <p:sp>
        <p:nvSpPr>
          <p:cNvPr id="44" name="Text 36"/>
          <p:cNvSpPr/>
          <p:nvPr/>
        </p:nvSpPr>
        <p:spPr>
          <a:xfrm>
            <a:off x="1060704" y="5870448"/>
            <a:ext cx="2029968" cy="384048"/>
          </a:xfrm>
          <a:prstGeom prst="rect">
            <a:avLst/>
          </a:prstGeom>
          <a:noFill/>
          <a:ln/>
        </p:spPr>
        <p:txBody>
          <a:bodyPr wrap="square" lIns="0" tIns="0" rIns="0" bIns="0" rtlCol="0" anchor="ctr"/>
          <a:lstStyle/>
          <a:p>
            <a:pPr marL="0" indent="0">
              <a:buNone/>
            </a:pPr>
            <a:r>
              <a:rPr lang="en-US" sz="830" dirty="0">
                <a:solidFill>
                  <a:srgbClr val="56687A"/>
                </a:solidFill>
                <a:latin typeface="Calibri" pitchFamily="34" charset="0"/>
                <a:ea typeface="Calibri" pitchFamily="34" charset="-122"/>
                <a:cs typeface="Calibri" pitchFamily="34" charset="-120"/>
              </a:rPr>
              <a:t>High streets, markets and shopping centres</a:t>
            </a:r>
            <a:endParaRPr lang="en-US" sz="830" dirty="0"/>
          </a:p>
        </p:txBody>
      </p:sp>
      <p:sp>
        <p:nvSpPr>
          <p:cNvPr id="45" name="Shape 37"/>
          <p:cNvSpPr/>
          <p:nvPr/>
        </p:nvSpPr>
        <p:spPr>
          <a:xfrm>
            <a:off x="3342132" y="5468112"/>
            <a:ext cx="2816352" cy="841248"/>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46" name="Image 6" descr="preencoded.png"/>
          <p:cNvPicPr>
            <a:picLocks noChangeAspect="1"/>
          </p:cNvPicPr>
          <p:nvPr/>
        </p:nvPicPr>
        <p:blipFill>
          <a:blip r:embed="rId9"/>
          <a:stretch>
            <a:fillRect/>
          </a:stretch>
        </p:blipFill>
        <p:spPr>
          <a:xfrm>
            <a:off x="3506724" y="5678424"/>
            <a:ext cx="420624" cy="420624"/>
          </a:xfrm>
          <a:prstGeom prst="rect">
            <a:avLst/>
          </a:prstGeom>
        </p:spPr>
      </p:pic>
      <p:sp>
        <p:nvSpPr>
          <p:cNvPr id="47" name="Text 38"/>
          <p:cNvSpPr/>
          <p:nvPr/>
        </p:nvSpPr>
        <p:spPr>
          <a:xfrm>
            <a:off x="4018788" y="5577840"/>
            <a:ext cx="2029968" cy="292608"/>
          </a:xfrm>
          <a:prstGeom prst="rect">
            <a:avLst/>
          </a:prstGeom>
          <a:noFill/>
          <a:ln/>
        </p:spPr>
        <p:txBody>
          <a:bodyPr wrap="square" lIns="0" tIns="0" rIns="0" bIns="0" rtlCol="0" anchor="ctr"/>
          <a:lstStyle/>
          <a:p>
            <a:pPr marL="0" indent="0">
              <a:buNone/>
            </a:pPr>
            <a:r>
              <a:rPr lang="en-US" sz="1100" b="1" dirty="0">
                <a:solidFill>
                  <a:srgbClr val="EDF3FA"/>
                </a:solidFill>
                <a:latin typeface="Calibri" pitchFamily="34" charset="0"/>
                <a:ea typeface="Calibri" pitchFamily="34" charset="-122"/>
                <a:cs typeface="Calibri" pitchFamily="34" charset="-120"/>
              </a:rPr>
              <a:t>Public Parks</a:t>
            </a:r>
            <a:endParaRPr lang="en-US" sz="1100" dirty="0"/>
          </a:p>
        </p:txBody>
      </p:sp>
      <p:sp>
        <p:nvSpPr>
          <p:cNvPr id="48" name="Text 39"/>
          <p:cNvSpPr/>
          <p:nvPr/>
        </p:nvSpPr>
        <p:spPr>
          <a:xfrm>
            <a:off x="4018788" y="5870448"/>
            <a:ext cx="2029968" cy="384048"/>
          </a:xfrm>
          <a:prstGeom prst="rect">
            <a:avLst/>
          </a:prstGeom>
          <a:noFill/>
          <a:ln/>
        </p:spPr>
        <p:txBody>
          <a:bodyPr wrap="square" lIns="0" tIns="0" rIns="0" bIns="0" rtlCol="0" anchor="ctr"/>
          <a:lstStyle/>
          <a:p>
            <a:pPr marL="0" indent="0">
              <a:buNone/>
            </a:pPr>
            <a:r>
              <a:rPr lang="en-US" sz="830" dirty="0">
                <a:solidFill>
                  <a:srgbClr val="56687A"/>
                </a:solidFill>
                <a:latin typeface="Calibri" pitchFamily="34" charset="0"/>
                <a:ea typeface="Calibri" pitchFamily="34" charset="-122"/>
                <a:cs typeface="Calibri" pitchFamily="34" charset="-120"/>
              </a:rPr>
              <a:t>Open spaces, paths and recreation zones</a:t>
            </a:r>
            <a:endParaRPr lang="en-US" sz="830" dirty="0"/>
          </a:p>
        </p:txBody>
      </p:sp>
      <p:sp>
        <p:nvSpPr>
          <p:cNvPr id="49" name="Shape 40"/>
          <p:cNvSpPr/>
          <p:nvPr/>
        </p:nvSpPr>
        <p:spPr>
          <a:xfrm>
            <a:off x="6300216" y="5468112"/>
            <a:ext cx="2816352" cy="841248"/>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50" name="Image 7" descr="preencoded.png"/>
          <p:cNvPicPr>
            <a:picLocks noChangeAspect="1"/>
          </p:cNvPicPr>
          <p:nvPr/>
        </p:nvPicPr>
        <p:blipFill>
          <a:blip r:embed="rId10"/>
          <a:stretch>
            <a:fillRect/>
          </a:stretch>
        </p:blipFill>
        <p:spPr>
          <a:xfrm>
            <a:off x="6464808" y="5678424"/>
            <a:ext cx="420624" cy="420624"/>
          </a:xfrm>
          <a:prstGeom prst="rect">
            <a:avLst/>
          </a:prstGeom>
        </p:spPr>
      </p:pic>
      <p:sp>
        <p:nvSpPr>
          <p:cNvPr id="51" name="Text 41"/>
          <p:cNvSpPr/>
          <p:nvPr/>
        </p:nvSpPr>
        <p:spPr>
          <a:xfrm>
            <a:off x="6976872" y="5577840"/>
            <a:ext cx="2029968" cy="292608"/>
          </a:xfrm>
          <a:prstGeom prst="rect">
            <a:avLst/>
          </a:prstGeom>
          <a:noFill/>
          <a:ln/>
        </p:spPr>
        <p:txBody>
          <a:bodyPr wrap="square" lIns="0" tIns="0" rIns="0" bIns="0" rtlCol="0" anchor="ctr"/>
          <a:lstStyle/>
          <a:p>
            <a:pPr marL="0" indent="0">
              <a:buNone/>
            </a:pPr>
            <a:r>
              <a:rPr lang="en-US" sz="1100" b="1" dirty="0">
                <a:solidFill>
                  <a:srgbClr val="EDF3FA"/>
                </a:solidFill>
                <a:latin typeface="Calibri" pitchFamily="34" charset="0"/>
                <a:ea typeface="Calibri" pitchFamily="34" charset="-122"/>
                <a:cs typeface="Calibri" pitchFamily="34" charset="-120"/>
              </a:rPr>
              <a:t>Residential Hubs</a:t>
            </a:r>
            <a:endParaRPr lang="en-US" sz="1100" dirty="0"/>
          </a:p>
        </p:txBody>
      </p:sp>
      <p:sp>
        <p:nvSpPr>
          <p:cNvPr id="52" name="Text 42"/>
          <p:cNvSpPr/>
          <p:nvPr/>
        </p:nvSpPr>
        <p:spPr>
          <a:xfrm>
            <a:off x="6976872" y="5870448"/>
            <a:ext cx="2029968" cy="384048"/>
          </a:xfrm>
          <a:prstGeom prst="rect">
            <a:avLst/>
          </a:prstGeom>
          <a:noFill/>
          <a:ln/>
        </p:spPr>
        <p:txBody>
          <a:bodyPr wrap="square" lIns="0" tIns="0" rIns="0" bIns="0" rtlCol="0" anchor="ctr"/>
          <a:lstStyle/>
          <a:p>
            <a:pPr marL="0" indent="0">
              <a:buNone/>
            </a:pPr>
            <a:r>
              <a:rPr lang="en-US" sz="830" dirty="0">
                <a:solidFill>
                  <a:srgbClr val="56687A"/>
                </a:solidFill>
                <a:latin typeface="Calibri" pitchFamily="34" charset="0"/>
                <a:ea typeface="Calibri" pitchFamily="34" charset="-122"/>
                <a:cs typeface="Calibri" pitchFamily="34" charset="-120"/>
              </a:rPr>
              <a:t>Apartment complexes and gated communities</a:t>
            </a:r>
            <a:endParaRPr lang="en-US" sz="830" dirty="0"/>
          </a:p>
        </p:txBody>
      </p:sp>
      <p:sp>
        <p:nvSpPr>
          <p:cNvPr id="53" name="Shape 43"/>
          <p:cNvSpPr/>
          <p:nvPr/>
        </p:nvSpPr>
        <p:spPr>
          <a:xfrm>
            <a:off x="9258300" y="5468112"/>
            <a:ext cx="2816352" cy="841248"/>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54" name="Image 8" descr="preencoded.png"/>
          <p:cNvPicPr>
            <a:picLocks noChangeAspect="1"/>
          </p:cNvPicPr>
          <p:nvPr/>
        </p:nvPicPr>
        <p:blipFill>
          <a:blip r:embed="rId11"/>
          <a:stretch>
            <a:fillRect/>
          </a:stretch>
        </p:blipFill>
        <p:spPr>
          <a:xfrm>
            <a:off x="9422892" y="5678424"/>
            <a:ext cx="420624" cy="420624"/>
          </a:xfrm>
          <a:prstGeom prst="rect">
            <a:avLst/>
          </a:prstGeom>
        </p:spPr>
      </p:pic>
      <p:sp>
        <p:nvSpPr>
          <p:cNvPr id="55" name="Text 44"/>
          <p:cNvSpPr/>
          <p:nvPr/>
        </p:nvSpPr>
        <p:spPr>
          <a:xfrm>
            <a:off x="9934956" y="5577840"/>
            <a:ext cx="2029968" cy="292608"/>
          </a:xfrm>
          <a:prstGeom prst="rect">
            <a:avLst/>
          </a:prstGeom>
          <a:noFill/>
          <a:ln/>
        </p:spPr>
        <p:txBody>
          <a:bodyPr wrap="square" lIns="0" tIns="0" rIns="0" bIns="0" rtlCol="0" anchor="ctr"/>
          <a:lstStyle/>
          <a:p>
            <a:pPr marL="0" indent="0">
              <a:buNone/>
            </a:pPr>
            <a:r>
              <a:rPr lang="en-US" sz="1100" b="1" dirty="0">
                <a:solidFill>
                  <a:srgbClr val="EDF3FA"/>
                </a:solidFill>
                <a:latin typeface="Calibri" pitchFamily="34" charset="0"/>
                <a:ea typeface="Calibri" pitchFamily="34" charset="-122"/>
                <a:cs typeface="Calibri" pitchFamily="34" charset="-120"/>
              </a:rPr>
              <a:t>Transport Hubs</a:t>
            </a:r>
            <a:endParaRPr lang="en-US" sz="1100" dirty="0"/>
          </a:p>
        </p:txBody>
      </p:sp>
      <p:sp>
        <p:nvSpPr>
          <p:cNvPr id="56" name="Text 45"/>
          <p:cNvSpPr/>
          <p:nvPr/>
        </p:nvSpPr>
        <p:spPr>
          <a:xfrm>
            <a:off x="9934956" y="5870448"/>
            <a:ext cx="2029968" cy="384048"/>
          </a:xfrm>
          <a:prstGeom prst="rect">
            <a:avLst/>
          </a:prstGeom>
          <a:noFill/>
          <a:ln/>
        </p:spPr>
        <p:txBody>
          <a:bodyPr wrap="square" lIns="0" tIns="0" rIns="0" bIns="0" rtlCol="0" anchor="ctr"/>
          <a:lstStyle/>
          <a:p>
            <a:pPr marL="0" indent="0">
              <a:buNone/>
            </a:pPr>
            <a:r>
              <a:rPr lang="en-US" sz="830" dirty="0">
                <a:solidFill>
                  <a:srgbClr val="56687A"/>
                </a:solidFill>
                <a:latin typeface="Calibri" pitchFamily="34" charset="0"/>
                <a:ea typeface="Calibri" pitchFamily="34" charset="-122"/>
                <a:cs typeface="Calibri" pitchFamily="34" charset="-120"/>
              </a:rPr>
              <a:t>Bus stations and intermodal interchanges</a:t>
            </a:r>
            <a:endParaRPr lang="en-US" sz="830" dirty="0"/>
          </a:p>
        </p:txBody>
      </p:sp>
      <p:sp>
        <p:nvSpPr>
          <p:cNvPr id="57" name="Shape 46"/>
          <p:cNvSpPr/>
          <p:nvPr/>
        </p:nvSpPr>
        <p:spPr>
          <a:xfrm>
            <a:off x="384048" y="6455664"/>
            <a:ext cx="11393424" cy="329184"/>
          </a:xfrm>
          <a:prstGeom prst="rect">
            <a:avLst/>
          </a:prstGeom>
          <a:solidFill>
            <a:srgbClr val="1A6CF0">
              <a:alpha val="10000"/>
            </a:srgbClr>
          </a:solidFill>
          <a:ln w="12700">
            <a:solidFill>
              <a:srgbClr val="1A6CF0">
                <a:alpha val="45000"/>
              </a:srgbClr>
            </a:solidFill>
            <a:prstDash val="solid"/>
          </a:ln>
        </p:spPr>
        <p:txBody>
          <a:bodyPr/>
          <a:lstStyle/>
          <a:p>
            <a:endParaRPr lang="en-US"/>
          </a:p>
        </p:txBody>
      </p:sp>
      <p:sp>
        <p:nvSpPr>
          <p:cNvPr id="58" name="Text 47"/>
          <p:cNvSpPr/>
          <p:nvPr/>
        </p:nvSpPr>
        <p:spPr>
          <a:xfrm>
            <a:off x="502920" y="6473952"/>
            <a:ext cx="11155680" cy="292608"/>
          </a:xfrm>
          <a:prstGeom prst="rect">
            <a:avLst/>
          </a:prstGeom>
          <a:noFill/>
          <a:ln/>
        </p:spPr>
        <p:txBody>
          <a:bodyPr wrap="square" lIns="0" tIns="0" rIns="0" bIns="0" rtlCol="0" anchor="ctr"/>
          <a:lstStyle/>
          <a:p>
            <a:pPr marL="0" indent="0" algn="ctr">
              <a:buNone/>
            </a:pPr>
            <a:r>
              <a:rPr lang="en-US" sz="1150" b="1" i="1" dirty="0">
                <a:solidFill>
                  <a:srgbClr val="4D8EF8"/>
                </a:solidFill>
                <a:latin typeface="Cambria" pitchFamily="34" charset="0"/>
                <a:ea typeface="Cambria" pitchFamily="34" charset="-122"/>
                <a:cs typeface="Cambria" pitchFamily="34" charset="-120"/>
              </a:rPr>
              <a:t>Together, let us build safer, smarter, and more connected cities.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90D"/>
        </a:solidFill>
        <a:effectLst/>
      </p:bgPr>
    </p:bg>
    <p:spTree>
      <p:nvGrpSpPr>
        <p:cNvPr id="1" name=""/>
        <p:cNvGrpSpPr/>
        <p:nvPr/>
      </p:nvGrpSpPr>
      <p:grpSpPr>
        <a:xfrm>
          <a:off x="0" y="0"/>
          <a:ext cx="0" cy="0"/>
          <a:chOff x="0" y="0"/>
          <a:chExt cx="0" cy="0"/>
        </a:xfrm>
      </p:grpSpPr>
      <p:sp>
        <p:nvSpPr>
          <p:cNvPr id="2" name="Shape 0"/>
          <p:cNvSpPr/>
          <p:nvPr/>
        </p:nvSpPr>
        <p:spPr>
          <a:xfrm>
            <a:off x="0" y="0"/>
            <a:ext cx="12161520" cy="594360"/>
          </a:xfrm>
          <a:prstGeom prst="rect">
            <a:avLst/>
          </a:prstGeom>
          <a:solidFill>
            <a:srgbClr val="07090D"/>
          </a:solidFill>
          <a:ln w="12700">
            <a:solidFill>
              <a:srgbClr val="07090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466344" cy="466344"/>
          </a:xfrm>
          <a:prstGeom prst="rect">
            <a:avLst/>
          </a:prstGeom>
        </p:spPr>
      </p:pic>
      <p:sp>
        <p:nvSpPr>
          <p:cNvPr id="4" name="Text 1"/>
          <p:cNvSpPr/>
          <p:nvPr/>
        </p:nvSpPr>
        <p:spPr>
          <a:xfrm>
            <a:off x="804672" y="192024"/>
            <a:ext cx="3657600" cy="219456"/>
          </a:xfrm>
          <a:prstGeom prst="rect">
            <a:avLst/>
          </a:prstGeom>
          <a:noFill/>
          <a:ln/>
        </p:spPr>
        <p:txBody>
          <a:bodyPr wrap="square" lIns="0" tIns="0" rIns="0" bIns="0" rtlCol="0" anchor="ctr"/>
          <a:lstStyle/>
          <a:p>
            <a:pPr marL="0" indent="0">
              <a:buNone/>
            </a:pPr>
            <a:r>
              <a:rPr lang="en-US" sz="780" b="1" kern="0" spc="300" dirty="0">
                <a:solidFill>
                  <a:srgbClr val="8090A2"/>
                </a:solidFill>
                <a:latin typeface="Calibri" pitchFamily="34" charset="0"/>
                <a:ea typeface="Calibri" pitchFamily="34" charset="-122"/>
                <a:cs typeface="Calibri" pitchFamily="34" charset="-120"/>
              </a:rPr>
              <a:t>PRAHARI GRID SYSTEMS</a:t>
            </a:r>
            <a:endParaRPr lang="en-US" sz="780" dirty="0"/>
          </a:p>
        </p:txBody>
      </p:sp>
      <p:sp>
        <p:nvSpPr>
          <p:cNvPr id="5" name="Shape 2"/>
          <p:cNvSpPr/>
          <p:nvPr/>
        </p:nvSpPr>
        <p:spPr>
          <a:xfrm>
            <a:off x="0" y="589788"/>
            <a:ext cx="12161520" cy="18288"/>
          </a:xfrm>
          <a:prstGeom prst="rect">
            <a:avLst/>
          </a:prstGeom>
          <a:solidFill>
            <a:srgbClr val="1A6CF0"/>
          </a:solidFill>
          <a:ln w="12700">
            <a:solidFill>
              <a:srgbClr val="1A6CF0"/>
            </a:solidFill>
            <a:prstDash val="solid"/>
          </a:ln>
        </p:spPr>
        <p:txBody>
          <a:bodyPr/>
          <a:lstStyle/>
          <a:p>
            <a:endParaRPr lang="en-US"/>
          </a:p>
        </p:txBody>
      </p:sp>
      <p:sp>
        <p:nvSpPr>
          <p:cNvPr id="6" name="Text 3"/>
          <p:cNvSpPr/>
          <p:nvPr/>
        </p:nvSpPr>
        <p:spPr>
          <a:xfrm>
            <a:off x="11338560" y="164592"/>
            <a:ext cx="566928" cy="237744"/>
          </a:xfrm>
          <a:prstGeom prst="rect">
            <a:avLst/>
          </a:prstGeom>
          <a:noFill/>
          <a:ln/>
        </p:spPr>
        <p:txBody>
          <a:bodyPr wrap="square" lIns="0" tIns="0" rIns="0" bIns="0" rtlCol="0" anchor="ctr"/>
          <a:lstStyle/>
          <a:p>
            <a:pPr marL="0" indent="0" algn="r">
              <a:buNone/>
            </a:pPr>
            <a:r>
              <a:rPr lang="en-US" sz="1100" b="1" dirty="0">
                <a:solidFill>
                  <a:srgbClr val="243040"/>
                </a:solidFill>
                <a:latin typeface="Calibri" pitchFamily="34" charset="0"/>
                <a:ea typeface="Calibri" pitchFamily="34" charset="-122"/>
                <a:cs typeface="Calibri" pitchFamily="34" charset="-120"/>
              </a:rPr>
              <a:t>06</a:t>
            </a:r>
            <a:endParaRPr lang="en-US" sz="1100" dirty="0"/>
          </a:p>
        </p:txBody>
      </p:sp>
      <p:sp>
        <p:nvSpPr>
          <p:cNvPr id="7" name="Text 4"/>
          <p:cNvSpPr/>
          <p:nvPr/>
        </p:nvSpPr>
        <p:spPr>
          <a:xfrm>
            <a:off x="347472" y="731520"/>
            <a:ext cx="7315200" cy="219456"/>
          </a:xfrm>
          <a:prstGeom prst="rect">
            <a:avLst/>
          </a:prstGeom>
          <a:noFill/>
          <a:ln/>
        </p:spPr>
        <p:txBody>
          <a:bodyPr wrap="square" lIns="0" tIns="0" rIns="0" bIns="0" rtlCol="0" anchor="ctr"/>
          <a:lstStyle/>
          <a:p>
            <a:pPr marL="0" indent="0">
              <a:buNone/>
            </a:pPr>
            <a:r>
              <a:rPr lang="en-US" sz="750" b="1" kern="0" spc="350" dirty="0">
                <a:solidFill>
                  <a:srgbClr val="4D8EF8"/>
                </a:solidFill>
                <a:latin typeface="Calibri" pitchFamily="34" charset="0"/>
                <a:ea typeface="Calibri" pitchFamily="34" charset="-122"/>
                <a:cs typeface="Calibri" pitchFamily="34" charset="-120"/>
              </a:rPr>
              <a:t>FOUNDER AND VISION</a:t>
            </a:r>
            <a:endParaRPr lang="en-US" sz="750" dirty="0"/>
          </a:p>
        </p:txBody>
      </p:sp>
      <p:sp>
        <p:nvSpPr>
          <p:cNvPr id="8" name="Shape 5"/>
          <p:cNvSpPr/>
          <p:nvPr/>
        </p:nvSpPr>
        <p:spPr>
          <a:xfrm>
            <a:off x="347472" y="987552"/>
            <a:ext cx="2331720" cy="3611880"/>
          </a:xfrm>
          <a:prstGeom prst="rect">
            <a:avLst/>
          </a:prstGeom>
          <a:solidFill>
            <a:srgbClr val="131920"/>
          </a:solidFill>
          <a:ln w="12700">
            <a:solidFill>
              <a:srgbClr val="1C2530"/>
            </a:solidFill>
            <a:prstDash val="solid"/>
          </a:ln>
          <a:effectLst>
            <a:outerShdw blurRad="330200" dist="76200" dir="2700000" algn="bl" rotWithShape="0">
              <a:srgbClr val="000000">
                <a:alpha val="42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347472" y="987552"/>
            <a:ext cx="2331720" cy="2331720"/>
          </a:xfrm>
          <a:prstGeom prst="rect">
            <a:avLst/>
          </a:prstGeom>
        </p:spPr>
      </p:pic>
      <p:sp>
        <p:nvSpPr>
          <p:cNvPr id="10" name="Shape 6"/>
          <p:cNvSpPr/>
          <p:nvPr/>
        </p:nvSpPr>
        <p:spPr>
          <a:xfrm>
            <a:off x="347472" y="3319272"/>
            <a:ext cx="2331720" cy="1280160"/>
          </a:xfrm>
          <a:prstGeom prst="rect">
            <a:avLst/>
          </a:prstGeom>
          <a:solidFill>
            <a:srgbClr val="131920"/>
          </a:solidFill>
          <a:ln w="12700">
            <a:solidFill>
              <a:srgbClr val="131920"/>
            </a:solidFill>
            <a:prstDash val="solid"/>
          </a:ln>
        </p:spPr>
        <p:txBody>
          <a:bodyPr/>
          <a:lstStyle/>
          <a:p>
            <a:endParaRPr lang="en-US"/>
          </a:p>
        </p:txBody>
      </p:sp>
      <p:sp>
        <p:nvSpPr>
          <p:cNvPr id="11" name="Shape 7"/>
          <p:cNvSpPr/>
          <p:nvPr/>
        </p:nvSpPr>
        <p:spPr>
          <a:xfrm>
            <a:off x="347472" y="3319272"/>
            <a:ext cx="2331720" cy="32004"/>
          </a:xfrm>
          <a:prstGeom prst="rect">
            <a:avLst/>
          </a:prstGeom>
          <a:solidFill>
            <a:srgbClr val="1A6CF0"/>
          </a:solidFill>
          <a:ln w="12700">
            <a:solidFill>
              <a:srgbClr val="1A6CF0"/>
            </a:solidFill>
            <a:prstDash val="solid"/>
          </a:ln>
        </p:spPr>
        <p:txBody>
          <a:bodyPr/>
          <a:lstStyle/>
          <a:p>
            <a:endParaRPr lang="en-US"/>
          </a:p>
        </p:txBody>
      </p:sp>
      <p:sp>
        <p:nvSpPr>
          <p:cNvPr id="12" name="Text 8"/>
          <p:cNvSpPr/>
          <p:nvPr/>
        </p:nvSpPr>
        <p:spPr>
          <a:xfrm>
            <a:off x="512064" y="3447288"/>
            <a:ext cx="2039112" cy="548640"/>
          </a:xfrm>
          <a:prstGeom prst="rect">
            <a:avLst/>
          </a:prstGeom>
          <a:noFill/>
          <a:ln/>
        </p:spPr>
        <p:txBody>
          <a:bodyPr wrap="square" lIns="0" tIns="0" rIns="0" bIns="0" rtlCol="0" anchor="ctr"/>
          <a:lstStyle/>
          <a:p>
            <a:pPr marL="0" indent="0">
              <a:buNone/>
            </a:pPr>
            <a:r>
              <a:rPr lang="en-US" sz="1400" b="1" dirty="0">
                <a:solidFill>
                  <a:srgbClr val="EDF3FA"/>
                </a:solidFill>
                <a:latin typeface="Cambria" pitchFamily="34" charset="0"/>
                <a:ea typeface="Cambria" pitchFamily="34" charset="-122"/>
                <a:cs typeface="Cambria" pitchFamily="34" charset="-120"/>
              </a:rPr>
              <a:t>Vaasu Deep Kohli</a:t>
            </a:r>
            <a:endParaRPr lang="en-US" sz="1400" dirty="0"/>
          </a:p>
        </p:txBody>
      </p:sp>
      <p:sp>
        <p:nvSpPr>
          <p:cNvPr id="13" name="Text 9"/>
          <p:cNvSpPr/>
          <p:nvPr/>
        </p:nvSpPr>
        <p:spPr>
          <a:xfrm>
            <a:off x="512064" y="3922776"/>
            <a:ext cx="2039112" cy="237744"/>
          </a:xfrm>
          <a:prstGeom prst="rect">
            <a:avLst/>
          </a:prstGeom>
          <a:noFill/>
          <a:ln/>
        </p:spPr>
        <p:txBody>
          <a:bodyPr wrap="square" lIns="0" tIns="0" rIns="0" bIns="0" rtlCol="0" anchor="ctr"/>
          <a:lstStyle/>
          <a:p>
            <a:pPr marL="0" indent="0">
              <a:buNone/>
            </a:pPr>
            <a:r>
              <a:rPr lang="en-US" sz="1050" dirty="0">
                <a:solidFill>
                  <a:srgbClr val="4D8EF8"/>
                </a:solidFill>
                <a:latin typeface="Calibri" pitchFamily="34" charset="0"/>
                <a:ea typeface="Calibri" pitchFamily="34" charset="-122"/>
                <a:cs typeface="Calibri" pitchFamily="34" charset="-120"/>
              </a:rPr>
              <a:t>Founder &amp; CEO</a:t>
            </a:r>
            <a:endParaRPr lang="en-US" sz="1050" dirty="0"/>
          </a:p>
        </p:txBody>
      </p:sp>
      <p:sp>
        <p:nvSpPr>
          <p:cNvPr id="14" name="Text 10"/>
          <p:cNvSpPr/>
          <p:nvPr/>
        </p:nvSpPr>
        <p:spPr>
          <a:xfrm>
            <a:off x="512064" y="4187952"/>
            <a:ext cx="2039112" cy="237744"/>
          </a:xfrm>
          <a:prstGeom prst="rect">
            <a:avLst/>
          </a:prstGeom>
          <a:noFill/>
          <a:ln/>
        </p:spPr>
        <p:txBody>
          <a:bodyPr wrap="square" lIns="0" tIns="0" rIns="0" bIns="0" rtlCol="0" anchor="ctr"/>
          <a:lstStyle/>
          <a:p>
            <a:pPr marL="0" indent="0">
              <a:buNone/>
            </a:pPr>
            <a:r>
              <a:rPr lang="en-US" sz="950" dirty="0">
                <a:solidFill>
                  <a:srgbClr val="8090A2"/>
                </a:solidFill>
                <a:latin typeface="Calibri" pitchFamily="34" charset="0"/>
                <a:ea typeface="Calibri" pitchFamily="34" charset="-122"/>
                <a:cs typeface="Calibri" pitchFamily="34" charset="-120"/>
              </a:rPr>
              <a:t>PRAHARI Grid Systems</a:t>
            </a:r>
            <a:endParaRPr lang="en-US" sz="950" dirty="0"/>
          </a:p>
        </p:txBody>
      </p:sp>
      <p:sp>
        <p:nvSpPr>
          <p:cNvPr id="15" name="Text 11"/>
          <p:cNvSpPr/>
          <p:nvPr/>
        </p:nvSpPr>
        <p:spPr>
          <a:xfrm>
            <a:off x="2971800" y="987552"/>
            <a:ext cx="2926080" cy="237744"/>
          </a:xfrm>
          <a:prstGeom prst="rect">
            <a:avLst/>
          </a:prstGeom>
          <a:noFill/>
          <a:ln/>
        </p:spPr>
        <p:txBody>
          <a:bodyPr wrap="square" lIns="0" tIns="0" rIns="0" bIns="0" rtlCol="0" anchor="ctr"/>
          <a:lstStyle/>
          <a:p>
            <a:pPr marL="0" indent="0">
              <a:buNone/>
            </a:pPr>
            <a:r>
              <a:rPr lang="en-US" sz="800" b="1" kern="0" spc="200" dirty="0">
                <a:solidFill>
                  <a:srgbClr val="4D8EF8"/>
                </a:solidFill>
                <a:latin typeface="Calibri" pitchFamily="34" charset="0"/>
                <a:ea typeface="Calibri" pitchFamily="34" charset="-122"/>
                <a:cs typeface="Calibri" pitchFamily="34" charset="-120"/>
              </a:rPr>
              <a:t>Founder's Message</a:t>
            </a:r>
            <a:endParaRPr lang="en-US" sz="800" dirty="0"/>
          </a:p>
        </p:txBody>
      </p:sp>
      <p:sp>
        <p:nvSpPr>
          <p:cNvPr id="16" name="Text 12"/>
          <p:cNvSpPr/>
          <p:nvPr/>
        </p:nvSpPr>
        <p:spPr>
          <a:xfrm>
            <a:off x="2971800" y="1298448"/>
            <a:ext cx="2926080" cy="2651760"/>
          </a:xfrm>
          <a:prstGeom prst="rect">
            <a:avLst/>
          </a:prstGeom>
          <a:noFill/>
          <a:ln/>
        </p:spPr>
        <p:txBody>
          <a:bodyPr wrap="square" lIns="0" tIns="0" rIns="0" bIns="0" rtlCol="0" anchor="ctr"/>
          <a:lstStyle/>
          <a:p>
            <a:pPr marL="0" indent="0">
              <a:buNone/>
            </a:pPr>
            <a:r>
              <a:rPr lang="en-US" sz="1150" i="1" dirty="0">
                <a:solidFill>
                  <a:srgbClr val="C2CDD9"/>
                </a:solidFill>
                <a:latin typeface="Cambria" pitchFamily="34" charset="0"/>
                <a:ea typeface="Cambria" pitchFamily="34" charset="-122"/>
                <a:cs typeface="Cambria" pitchFamily="34" charset="-120"/>
              </a:rPr>
              <a:t>“I founded PRAHARI to solve two persistent urban challenges: immediate access to help during emergencies and affordable public visibility for local businesses. By combining both into one intelligent infrastructure platform, every deployment creates safer, smarter, and more connected public spaces.”</a:t>
            </a:r>
            <a:endParaRPr lang="en-US" sz="1150" dirty="0"/>
          </a:p>
        </p:txBody>
      </p:sp>
      <p:sp>
        <p:nvSpPr>
          <p:cNvPr id="17" name="Shape 13"/>
          <p:cNvSpPr/>
          <p:nvPr/>
        </p:nvSpPr>
        <p:spPr>
          <a:xfrm>
            <a:off x="347472" y="5029200"/>
            <a:ext cx="5733288" cy="1298448"/>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sp>
        <p:nvSpPr>
          <p:cNvPr id="18" name="Shape 14"/>
          <p:cNvSpPr/>
          <p:nvPr/>
        </p:nvSpPr>
        <p:spPr>
          <a:xfrm>
            <a:off x="347472" y="5029200"/>
            <a:ext cx="5733288" cy="36576"/>
          </a:xfrm>
          <a:prstGeom prst="rect">
            <a:avLst/>
          </a:prstGeom>
          <a:solidFill>
            <a:srgbClr val="1A6CF0"/>
          </a:solidFill>
          <a:ln w="12700">
            <a:solidFill>
              <a:srgbClr val="1A6CF0"/>
            </a:solidFill>
            <a:prstDash val="solid"/>
          </a:ln>
        </p:spPr>
        <p:txBody>
          <a:bodyPr/>
          <a:lstStyle/>
          <a:p>
            <a:endParaRPr lang="en-US"/>
          </a:p>
        </p:txBody>
      </p:sp>
      <p:sp>
        <p:nvSpPr>
          <p:cNvPr id="19" name="Text 15"/>
          <p:cNvSpPr/>
          <p:nvPr/>
        </p:nvSpPr>
        <p:spPr>
          <a:xfrm>
            <a:off x="530352" y="5120640"/>
            <a:ext cx="5394960" cy="219456"/>
          </a:xfrm>
          <a:prstGeom prst="rect">
            <a:avLst/>
          </a:prstGeom>
          <a:noFill/>
          <a:ln/>
        </p:spPr>
        <p:txBody>
          <a:bodyPr wrap="square" lIns="0" tIns="0" rIns="0" bIns="0" rtlCol="0" anchor="ctr"/>
          <a:lstStyle/>
          <a:p>
            <a:pPr marL="0" indent="0">
              <a:buNone/>
            </a:pPr>
            <a:r>
              <a:rPr lang="en-US" sz="800" b="1" kern="0" spc="200" dirty="0">
                <a:solidFill>
                  <a:srgbClr val="4D8EF8"/>
                </a:solidFill>
                <a:latin typeface="Calibri" pitchFamily="34" charset="0"/>
                <a:ea typeface="Calibri" pitchFamily="34" charset="-122"/>
                <a:cs typeface="Calibri" pitchFamily="34" charset="-120"/>
              </a:rPr>
              <a:t>Our Mission</a:t>
            </a:r>
            <a:endParaRPr lang="en-US" sz="800" dirty="0"/>
          </a:p>
        </p:txBody>
      </p:sp>
      <p:sp>
        <p:nvSpPr>
          <p:cNvPr id="20" name="Text 16"/>
          <p:cNvSpPr/>
          <p:nvPr/>
        </p:nvSpPr>
        <p:spPr>
          <a:xfrm>
            <a:off x="530352" y="5358384"/>
            <a:ext cx="5394960" cy="868680"/>
          </a:xfrm>
          <a:prstGeom prst="rect">
            <a:avLst/>
          </a:prstGeom>
          <a:noFill/>
          <a:ln/>
        </p:spPr>
        <p:txBody>
          <a:bodyPr wrap="square" lIns="0" tIns="0" rIns="0" bIns="0" rtlCol="0" anchor="ctr"/>
          <a:lstStyle/>
          <a:p>
            <a:pPr marL="0" indent="0">
              <a:buNone/>
            </a:pPr>
            <a:r>
              <a:rPr lang="en-US" sz="1050" dirty="0">
                <a:solidFill>
                  <a:srgbClr val="C2CDD9"/>
                </a:solidFill>
                <a:latin typeface="Calibri" pitchFamily="34" charset="0"/>
                <a:ea typeface="Calibri" pitchFamily="34" charset="-122"/>
                <a:cs typeface="Calibri" pitchFamily="34" charset="-120"/>
              </a:rPr>
              <a:t>To build safer, smarter, and more connected public spaces through intelligent infrastructure, making emergency access a standard feature of every Indian city.</a:t>
            </a:r>
            <a:endParaRPr lang="en-US" sz="1050" dirty="0"/>
          </a:p>
        </p:txBody>
      </p:sp>
      <p:sp>
        <p:nvSpPr>
          <p:cNvPr id="21" name="Shape 17"/>
          <p:cNvSpPr/>
          <p:nvPr/>
        </p:nvSpPr>
        <p:spPr>
          <a:xfrm>
            <a:off x="6080760" y="749808"/>
            <a:ext cx="18288" cy="5870448"/>
          </a:xfrm>
          <a:prstGeom prst="rect">
            <a:avLst/>
          </a:prstGeom>
          <a:solidFill>
            <a:srgbClr val="1C2530"/>
          </a:solidFill>
          <a:ln w="12700">
            <a:solidFill>
              <a:srgbClr val="1C2530"/>
            </a:solidFill>
            <a:prstDash val="solid"/>
          </a:ln>
        </p:spPr>
        <p:txBody>
          <a:bodyPr/>
          <a:lstStyle/>
          <a:p>
            <a:endParaRPr lang="en-US"/>
          </a:p>
        </p:txBody>
      </p:sp>
      <p:sp>
        <p:nvSpPr>
          <p:cNvPr id="22" name="Text 18"/>
          <p:cNvSpPr/>
          <p:nvPr/>
        </p:nvSpPr>
        <p:spPr>
          <a:xfrm>
            <a:off x="6309360" y="731520"/>
            <a:ext cx="7315200" cy="219456"/>
          </a:xfrm>
          <a:prstGeom prst="rect">
            <a:avLst/>
          </a:prstGeom>
          <a:noFill/>
          <a:ln/>
        </p:spPr>
        <p:txBody>
          <a:bodyPr wrap="square" lIns="0" tIns="0" rIns="0" bIns="0" rtlCol="0" anchor="ctr"/>
          <a:lstStyle/>
          <a:p>
            <a:pPr marL="0" indent="0">
              <a:buNone/>
            </a:pPr>
            <a:r>
              <a:rPr lang="en-US" sz="750" b="1" kern="0" spc="350" dirty="0">
                <a:solidFill>
                  <a:srgbClr val="4D8EF8"/>
                </a:solidFill>
                <a:latin typeface="Calibri" pitchFamily="34" charset="0"/>
                <a:ea typeface="Calibri" pitchFamily="34" charset="-122"/>
                <a:cs typeface="Calibri" pitchFamily="34" charset="-120"/>
              </a:rPr>
              <a:t>GET IN TOUCH</a:t>
            </a:r>
            <a:endParaRPr lang="en-US" sz="750" dirty="0"/>
          </a:p>
        </p:txBody>
      </p:sp>
      <p:sp>
        <p:nvSpPr>
          <p:cNvPr id="23" name="Text 19"/>
          <p:cNvSpPr/>
          <p:nvPr/>
        </p:nvSpPr>
        <p:spPr>
          <a:xfrm>
            <a:off x="6309360" y="932688"/>
            <a:ext cx="5486400" cy="640080"/>
          </a:xfrm>
          <a:prstGeom prst="rect">
            <a:avLst/>
          </a:prstGeom>
          <a:noFill/>
          <a:ln/>
        </p:spPr>
        <p:txBody>
          <a:bodyPr wrap="square" lIns="0" tIns="0" rIns="0" bIns="0" rtlCol="0" anchor="ctr"/>
          <a:lstStyle/>
          <a:p>
            <a:pPr marL="0" indent="0">
              <a:buNone/>
            </a:pPr>
            <a:r>
              <a:rPr lang="en-US" sz="2600" b="1" dirty="0">
                <a:solidFill>
                  <a:srgbClr val="EDF3FA"/>
                </a:solidFill>
                <a:latin typeface="Cambria" pitchFamily="34" charset="0"/>
                <a:ea typeface="Cambria" pitchFamily="34" charset="-122"/>
                <a:cs typeface="Cambria" pitchFamily="34" charset="-120"/>
              </a:rPr>
              <a:t>Partner with Us.</a:t>
            </a:r>
            <a:endParaRPr lang="en-US" sz="2600" dirty="0"/>
          </a:p>
        </p:txBody>
      </p:sp>
      <p:sp>
        <p:nvSpPr>
          <p:cNvPr id="24" name="Text 20"/>
          <p:cNvSpPr/>
          <p:nvPr/>
        </p:nvSpPr>
        <p:spPr>
          <a:xfrm>
            <a:off x="6309360" y="1645920"/>
            <a:ext cx="5486400" cy="658368"/>
          </a:xfrm>
          <a:prstGeom prst="rect">
            <a:avLst/>
          </a:prstGeom>
          <a:noFill/>
          <a:ln/>
        </p:spPr>
        <p:txBody>
          <a:bodyPr wrap="square" lIns="0" tIns="0" rIns="0" bIns="0" rtlCol="0" anchor="ctr"/>
          <a:lstStyle/>
          <a:p>
            <a:pPr marL="0" indent="0">
              <a:buNone/>
            </a:pPr>
            <a:r>
              <a:rPr lang="en-US" sz="1100" dirty="0">
                <a:solidFill>
                  <a:srgbClr val="8090A2"/>
                </a:solidFill>
                <a:latin typeface="Calibri" pitchFamily="34" charset="0"/>
                <a:ea typeface="Calibri" pitchFamily="34" charset="-122"/>
                <a:cs typeface="Calibri" pitchFamily="34" charset="-120"/>
              </a:rPr>
              <a:t>We welcome conversations with municipalities, smart city agencies, universities, commercial property owners, incubators, and strategic partners.</a:t>
            </a:r>
            <a:endParaRPr lang="en-US" sz="1100" dirty="0"/>
          </a:p>
        </p:txBody>
      </p:sp>
      <p:sp>
        <p:nvSpPr>
          <p:cNvPr id="25" name="Shape 21"/>
          <p:cNvSpPr/>
          <p:nvPr/>
        </p:nvSpPr>
        <p:spPr>
          <a:xfrm>
            <a:off x="6309360" y="2414016"/>
            <a:ext cx="5486400" cy="54864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26" name="Image 2" descr="preencoded.png"/>
          <p:cNvPicPr>
            <a:picLocks noChangeAspect="1"/>
          </p:cNvPicPr>
          <p:nvPr/>
        </p:nvPicPr>
        <p:blipFill>
          <a:blip r:embed="rId5"/>
          <a:stretch>
            <a:fillRect/>
          </a:stretch>
        </p:blipFill>
        <p:spPr>
          <a:xfrm>
            <a:off x="6437376" y="2532888"/>
            <a:ext cx="292608" cy="292608"/>
          </a:xfrm>
          <a:prstGeom prst="rect">
            <a:avLst/>
          </a:prstGeom>
        </p:spPr>
      </p:pic>
      <p:sp>
        <p:nvSpPr>
          <p:cNvPr id="27" name="Text 22"/>
          <p:cNvSpPr/>
          <p:nvPr/>
        </p:nvSpPr>
        <p:spPr>
          <a:xfrm>
            <a:off x="6821424" y="2459736"/>
            <a:ext cx="1463040" cy="228600"/>
          </a:xfrm>
          <a:prstGeom prst="rect">
            <a:avLst/>
          </a:prstGeom>
          <a:noFill/>
          <a:ln/>
        </p:spPr>
        <p:txBody>
          <a:bodyPr wrap="square" lIns="0" tIns="0" rIns="0" bIns="0" rtlCol="0" anchor="ctr"/>
          <a:lstStyle/>
          <a:p>
            <a:pPr marL="0" indent="0">
              <a:buNone/>
            </a:pPr>
            <a:r>
              <a:rPr lang="en-US" sz="850" b="1" dirty="0">
                <a:solidFill>
                  <a:srgbClr val="4D8EF8"/>
                </a:solidFill>
                <a:latin typeface="Calibri" pitchFamily="34" charset="0"/>
                <a:ea typeface="Calibri" pitchFamily="34" charset="-122"/>
                <a:cs typeface="Calibri" pitchFamily="34" charset="-120"/>
              </a:rPr>
              <a:t>Website</a:t>
            </a:r>
            <a:endParaRPr lang="en-US" sz="850" dirty="0"/>
          </a:p>
        </p:txBody>
      </p:sp>
      <p:sp>
        <p:nvSpPr>
          <p:cNvPr id="28" name="Text 23"/>
          <p:cNvSpPr/>
          <p:nvPr/>
        </p:nvSpPr>
        <p:spPr>
          <a:xfrm>
            <a:off x="6821424" y="2688336"/>
            <a:ext cx="4846320" cy="219456"/>
          </a:xfrm>
          <a:prstGeom prst="rect">
            <a:avLst/>
          </a:prstGeom>
          <a:noFill/>
          <a:ln/>
        </p:spPr>
        <p:txBody>
          <a:bodyPr wrap="square" lIns="0" tIns="0" rIns="0" bIns="0" rtlCol="0" anchor="ctr"/>
          <a:lstStyle/>
          <a:p>
            <a:pPr marL="0" indent="0">
              <a:buNone/>
            </a:pPr>
            <a:r>
              <a:rPr lang="en-US" sz="1100" dirty="0">
                <a:solidFill>
                  <a:srgbClr val="C2CDD9"/>
                </a:solidFill>
                <a:latin typeface="Calibri" pitchFamily="34" charset="0"/>
                <a:ea typeface="Calibri" pitchFamily="34" charset="-122"/>
                <a:cs typeface="Calibri" pitchFamily="34" charset="-120"/>
              </a:rPr>
              <a:t>prahari-official.vercel.app</a:t>
            </a:r>
            <a:endParaRPr lang="en-US" sz="1100" dirty="0"/>
          </a:p>
        </p:txBody>
      </p:sp>
      <p:sp>
        <p:nvSpPr>
          <p:cNvPr id="29" name="Shape 24"/>
          <p:cNvSpPr/>
          <p:nvPr/>
        </p:nvSpPr>
        <p:spPr>
          <a:xfrm>
            <a:off x="6309360" y="3054096"/>
            <a:ext cx="5486400" cy="54864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30" name="Image 3" descr="preencoded.png"/>
          <p:cNvPicPr>
            <a:picLocks noChangeAspect="1"/>
          </p:cNvPicPr>
          <p:nvPr/>
        </p:nvPicPr>
        <p:blipFill>
          <a:blip r:embed="rId6"/>
          <a:stretch>
            <a:fillRect/>
          </a:stretch>
        </p:blipFill>
        <p:spPr>
          <a:xfrm>
            <a:off x="6437376" y="3172968"/>
            <a:ext cx="292608" cy="292608"/>
          </a:xfrm>
          <a:prstGeom prst="rect">
            <a:avLst/>
          </a:prstGeom>
        </p:spPr>
      </p:pic>
      <p:sp>
        <p:nvSpPr>
          <p:cNvPr id="31" name="Text 25"/>
          <p:cNvSpPr/>
          <p:nvPr/>
        </p:nvSpPr>
        <p:spPr>
          <a:xfrm>
            <a:off x="6821424" y="3099816"/>
            <a:ext cx="1463040" cy="228600"/>
          </a:xfrm>
          <a:prstGeom prst="rect">
            <a:avLst/>
          </a:prstGeom>
          <a:noFill/>
          <a:ln/>
        </p:spPr>
        <p:txBody>
          <a:bodyPr wrap="square" lIns="0" tIns="0" rIns="0" bIns="0" rtlCol="0" anchor="ctr"/>
          <a:lstStyle/>
          <a:p>
            <a:pPr marL="0" indent="0">
              <a:buNone/>
            </a:pPr>
            <a:r>
              <a:rPr lang="en-US" sz="850" b="1" dirty="0">
                <a:solidFill>
                  <a:srgbClr val="4D8EF8"/>
                </a:solidFill>
                <a:latin typeface="Calibri" pitchFamily="34" charset="0"/>
                <a:ea typeface="Calibri" pitchFamily="34" charset="-122"/>
                <a:cs typeface="Calibri" pitchFamily="34" charset="-120"/>
              </a:rPr>
              <a:t>Email</a:t>
            </a:r>
            <a:endParaRPr lang="en-US" sz="850" dirty="0"/>
          </a:p>
        </p:txBody>
      </p:sp>
      <p:sp>
        <p:nvSpPr>
          <p:cNvPr id="32" name="Text 26"/>
          <p:cNvSpPr/>
          <p:nvPr/>
        </p:nvSpPr>
        <p:spPr>
          <a:xfrm>
            <a:off x="6821424" y="3328416"/>
            <a:ext cx="4846320" cy="219456"/>
          </a:xfrm>
          <a:prstGeom prst="rect">
            <a:avLst/>
          </a:prstGeom>
          <a:noFill/>
          <a:ln/>
        </p:spPr>
        <p:txBody>
          <a:bodyPr wrap="square" lIns="0" tIns="0" rIns="0" bIns="0" rtlCol="0" anchor="ctr"/>
          <a:lstStyle/>
          <a:p>
            <a:pPr marL="0" indent="0">
              <a:buNone/>
            </a:pPr>
            <a:r>
              <a:rPr lang="en-US" sz="1100" dirty="0">
                <a:solidFill>
                  <a:srgbClr val="C2CDD9"/>
                </a:solidFill>
                <a:latin typeface="Calibri" pitchFamily="34" charset="0"/>
                <a:ea typeface="Calibri" pitchFamily="34" charset="-122"/>
                <a:cs typeface="Calibri" pitchFamily="34" charset="-120"/>
              </a:rPr>
              <a:t>vasudeepkohli@gmail.com</a:t>
            </a:r>
            <a:endParaRPr lang="en-US" sz="1100" dirty="0"/>
          </a:p>
        </p:txBody>
      </p:sp>
      <p:sp>
        <p:nvSpPr>
          <p:cNvPr id="33" name="Shape 27"/>
          <p:cNvSpPr/>
          <p:nvPr/>
        </p:nvSpPr>
        <p:spPr>
          <a:xfrm>
            <a:off x="6309360" y="3694176"/>
            <a:ext cx="5486400" cy="548640"/>
          </a:xfrm>
          <a:prstGeom prst="rect">
            <a:avLst/>
          </a:prstGeom>
          <a:solidFill>
            <a:srgbClr val="131920"/>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a:p>
        </p:txBody>
      </p:sp>
      <p:pic>
        <p:nvPicPr>
          <p:cNvPr id="34" name="Image 4" descr="preencoded.png"/>
          <p:cNvPicPr>
            <a:picLocks noChangeAspect="1"/>
          </p:cNvPicPr>
          <p:nvPr/>
        </p:nvPicPr>
        <p:blipFill>
          <a:blip r:embed="rId7"/>
          <a:stretch>
            <a:fillRect/>
          </a:stretch>
        </p:blipFill>
        <p:spPr>
          <a:xfrm>
            <a:off x="6437376" y="3813048"/>
            <a:ext cx="292608" cy="292608"/>
          </a:xfrm>
          <a:prstGeom prst="rect">
            <a:avLst/>
          </a:prstGeom>
        </p:spPr>
      </p:pic>
      <p:sp>
        <p:nvSpPr>
          <p:cNvPr id="35" name="Text 28"/>
          <p:cNvSpPr/>
          <p:nvPr/>
        </p:nvSpPr>
        <p:spPr>
          <a:xfrm>
            <a:off x="6821424" y="3739896"/>
            <a:ext cx="1463040" cy="228600"/>
          </a:xfrm>
          <a:prstGeom prst="rect">
            <a:avLst/>
          </a:prstGeom>
          <a:noFill/>
          <a:ln/>
        </p:spPr>
        <p:txBody>
          <a:bodyPr wrap="square" lIns="0" tIns="0" rIns="0" bIns="0" rtlCol="0" anchor="ctr"/>
          <a:lstStyle/>
          <a:p>
            <a:pPr marL="0" indent="0">
              <a:buNone/>
            </a:pPr>
            <a:r>
              <a:rPr lang="en-US" sz="850" b="1" dirty="0">
                <a:solidFill>
                  <a:srgbClr val="4D8EF8"/>
                </a:solidFill>
                <a:latin typeface="Calibri" pitchFamily="34" charset="0"/>
                <a:ea typeface="Calibri" pitchFamily="34" charset="-122"/>
                <a:cs typeface="Calibri" pitchFamily="34" charset="-120"/>
              </a:rPr>
              <a:t>Phone</a:t>
            </a:r>
            <a:endParaRPr lang="en-US" sz="850" dirty="0"/>
          </a:p>
        </p:txBody>
      </p:sp>
      <p:sp>
        <p:nvSpPr>
          <p:cNvPr id="36" name="Text 29"/>
          <p:cNvSpPr/>
          <p:nvPr/>
        </p:nvSpPr>
        <p:spPr>
          <a:xfrm>
            <a:off x="6821424" y="3968496"/>
            <a:ext cx="4846320" cy="219456"/>
          </a:xfrm>
          <a:prstGeom prst="rect">
            <a:avLst/>
          </a:prstGeom>
          <a:noFill/>
          <a:ln/>
        </p:spPr>
        <p:txBody>
          <a:bodyPr wrap="square" lIns="0" tIns="0" rIns="0" bIns="0" rtlCol="0" anchor="ctr"/>
          <a:lstStyle/>
          <a:p>
            <a:pPr marL="0" indent="0">
              <a:buNone/>
            </a:pPr>
            <a:r>
              <a:rPr lang="en-US" sz="1100" dirty="0">
                <a:solidFill>
                  <a:srgbClr val="C2CDD9"/>
                </a:solidFill>
                <a:latin typeface="Calibri" pitchFamily="34" charset="0"/>
                <a:ea typeface="Calibri" pitchFamily="34" charset="-122"/>
                <a:cs typeface="Calibri" pitchFamily="34" charset="-120"/>
              </a:rPr>
              <a:t>+91 77809 87246</a:t>
            </a:r>
            <a:endParaRPr lang="en-US" sz="1100" dirty="0"/>
          </a:p>
        </p:txBody>
      </p:sp>
      <p:sp>
        <p:nvSpPr>
          <p:cNvPr id="37" name="Shape 30"/>
          <p:cNvSpPr/>
          <p:nvPr/>
        </p:nvSpPr>
        <p:spPr>
          <a:xfrm>
            <a:off x="6291072" y="4192524"/>
            <a:ext cx="2651760" cy="2542032"/>
          </a:xfrm>
          <a:prstGeom prst="rect">
            <a:avLst/>
          </a:prstGeom>
          <a:solidFill>
            <a:srgbClr val="FFFFFF"/>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dirty="0"/>
          </a:p>
        </p:txBody>
      </p:sp>
      <p:pic>
        <p:nvPicPr>
          <p:cNvPr id="38" name="Image 5" descr="preencoded.png"/>
          <p:cNvPicPr>
            <a:picLocks noChangeAspect="1"/>
          </p:cNvPicPr>
          <p:nvPr/>
        </p:nvPicPr>
        <p:blipFill>
          <a:blip r:embed="rId8"/>
          <a:stretch>
            <a:fillRect/>
          </a:stretch>
        </p:blipFill>
        <p:spPr>
          <a:xfrm>
            <a:off x="6478172" y="4242816"/>
            <a:ext cx="2194560" cy="2194560"/>
          </a:xfrm>
          <a:prstGeom prst="rect">
            <a:avLst/>
          </a:prstGeom>
        </p:spPr>
      </p:pic>
      <p:sp>
        <p:nvSpPr>
          <p:cNvPr id="40" name="Text 32"/>
          <p:cNvSpPr/>
          <p:nvPr/>
        </p:nvSpPr>
        <p:spPr>
          <a:xfrm>
            <a:off x="5169877" y="6473952"/>
            <a:ext cx="4835066" cy="192024"/>
          </a:xfrm>
          <a:prstGeom prst="rect">
            <a:avLst/>
          </a:prstGeom>
          <a:solidFill>
            <a:srgbClr val="07090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Website</a:t>
            </a:r>
            <a:endParaRPr lang="en-US" sz="1050" dirty="0"/>
          </a:p>
        </p:txBody>
      </p:sp>
      <p:sp>
        <p:nvSpPr>
          <p:cNvPr id="41" name="Shape 33"/>
          <p:cNvSpPr/>
          <p:nvPr/>
        </p:nvSpPr>
        <p:spPr>
          <a:xfrm>
            <a:off x="9091246" y="4215384"/>
            <a:ext cx="2651760" cy="2542032"/>
          </a:xfrm>
          <a:prstGeom prst="rect">
            <a:avLst/>
          </a:prstGeom>
          <a:solidFill>
            <a:srgbClr val="FFFFFF"/>
          </a:solidFill>
          <a:ln w="12700">
            <a:solidFill>
              <a:srgbClr val="1C2530"/>
            </a:solidFill>
            <a:prstDash val="solid"/>
          </a:ln>
          <a:effectLst>
            <a:outerShdw blurRad="177800" dist="50800" dir="2700000" algn="bl" rotWithShape="0">
              <a:srgbClr val="000000">
                <a:alpha val="25000"/>
              </a:srgbClr>
            </a:outerShdw>
          </a:effectLst>
        </p:spPr>
        <p:txBody>
          <a:bodyPr/>
          <a:lstStyle/>
          <a:p>
            <a:endParaRPr lang="en-US" dirty="0"/>
          </a:p>
        </p:txBody>
      </p:sp>
      <p:pic>
        <p:nvPicPr>
          <p:cNvPr id="42" name="Image 6" descr="preencoded.png"/>
          <p:cNvPicPr>
            <a:picLocks noChangeAspect="1"/>
          </p:cNvPicPr>
          <p:nvPr/>
        </p:nvPicPr>
        <p:blipFill>
          <a:blip r:embed="rId9"/>
          <a:stretch>
            <a:fillRect/>
          </a:stretch>
        </p:blipFill>
        <p:spPr>
          <a:xfrm>
            <a:off x="9244584" y="4270248"/>
            <a:ext cx="2194560" cy="2194560"/>
          </a:xfrm>
          <a:prstGeom prst="rect">
            <a:avLst/>
          </a:prstGeom>
        </p:spPr>
      </p:pic>
      <p:sp>
        <p:nvSpPr>
          <p:cNvPr id="45" name="Shape 36"/>
          <p:cNvSpPr/>
          <p:nvPr/>
        </p:nvSpPr>
        <p:spPr>
          <a:xfrm>
            <a:off x="0" y="6620256"/>
            <a:ext cx="12161520" cy="237744"/>
          </a:xfrm>
          <a:prstGeom prst="rect">
            <a:avLst/>
          </a:prstGeom>
          <a:solidFill>
            <a:srgbClr val="07090D"/>
          </a:solidFill>
          <a:ln w="12700">
            <a:solidFill>
              <a:srgbClr val="07090D"/>
            </a:solidFill>
            <a:prstDash val="solid"/>
          </a:ln>
        </p:spPr>
        <p:txBody>
          <a:bodyPr/>
          <a:lstStyle/>
          <a:p>
            <a:endParaRPr lang="en-US" dirty="0"/>
          </a:p>
        </p:txBody>
      </p:sp>
      <p:sp>
        <p:nvSpPr>
          <p:cNvPr id="46" name="Text 37"/>
          <p:cNvSpPr/>
          <p:nvPr/>
        </p:nvSpPr>
        <p:spPr>
          <a:xfrm>
            <a:off x="0" y="6656832"/>
            <a:ext cx="12161520" cy="164592"/>
          </a:xfrm>
          <a:prstGeom prst="rect">
            <a:avLst/>
          </a:prstGeom>
          <a:noFill/>
          <a:ln/>
        </p:spPr>
        <p:txBody>
          <a:bodyPr wrap="square" lIns="0" tIns="0" rIns="0" bIns="0" rtlCol="0" anchor="ctr"/>
          <a:lstStyle/>
          <a:p>
            <a:pPr marL="0" indent="0" algn="ctr">
              <a:buNone/>
            </a:pPr>
            <a:r>
              <a:rPr lang="en-US" sz="700" dirty="0">
                <a:solidFill>
                  <a:srgbClr val="243040"/>
                </a:solidFill>
                <a:latin typeface="Calibri" pitchFamily="34" charset="0"/>
                <a:ea typeface="Calibri" pitchFamily="34" charset="-122"/>
                <a:cs typeface="Calibri" pitchFamily="34" charset="-120"/>
              </a:rPr>
              <a:t>prahari-official.vercel.app   vasudeepkohli@gmail.com   +91 77809 87246</a:t>
            </a:r>
            <a:endParaRPr lang="en-US" sz="700" dirty="0"/>
          </a:p>
        </p:txBody>
      </p:sp>
      <p:sp>
        <p:nvSpPr>
          <p:cNvPr id="47" name="Text 35">
            <a:extLst>
              <a:ext uri="{FF2B5EF4-FFF2-40B4-BE49-F238E27FC236}">
                <a16:creationId xmlns:a16="http://schemas.microsoft.com/office/drawing/2014/main" id="{43DAC5B7-B400-F7E7-018A-E0C65C613714}"/>
              </a:ext>
            </a:extLst>
          </p:cNvPr>
          <p:cNvSpPr/>
          <p:nvPr/>
        </p:nvSpPr>
        <p:spPr>
          <a:xfrm>
            <a:off x="8267231" y="6445376"/>
            <a:ext cx="3924769" cy="219455"/>
          </a:xfrm>
          <a:prstGeom prst="rect">
            <a:avLst/>
          </a:prstGeom>
          <a:solidFill>
            <a:srgbClr val="07090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Demo Video</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664</Words>
  <Application>Microsoft Macintosh PowerPoint</Application>
  <PresentationFormat>Widescreen</PresentationFormat>
  <Paragraphs>127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PRAHARI Grid Systems Company Brochure</dc:title>
  <dc:subject>PptxGenJS Presentation</dc:subject>
  <dc:creator>PptxGenJS</dc:creator>
  <cp:lastModifiedBy>VAASU KOHLI</cp:lastModifiedBy>
  <cp:revision>2</cp:revision>
  <dcterms:created xsi:type="dcterms:W3CDTF">2026-06-30T08:49:42Z</dcterms:created>
  <dcterms:modified xsi:type="dcterms:W3CDTF">2026-07-06T16:38:28Z</dcterms:modified>
</cp:coreProperties>
</file>